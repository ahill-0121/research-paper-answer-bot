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b4c582-4c43-6680-4921-6f845d6236ae}">
          <p14:sldIdLst>
            <p14:sldId id="256"/>
            <p14:sldId id="257"/>
          </p14:sldIdLst>
        </p14:section>
        <p14:section name="Approach" id="{6c5c6821-1f7f-fc4b-a2a3-6d1e7f2da99d}">
          <p14:sldIdLst>
            <p14:sldId id="258"/>
          </p14:sldIdLst>
        </p14:section>
        <p14:section name="Data and retrieval" id="{4f4d08ac-7046-edf5-b813-2c012462d117}">
          <p14:sldIdLst>
            <p14:sldId id="259"/>
            <p14:sldId id="260"/>
            <p14:sldId id="261"/>
            <p14:sldId id="262"/>
          </p14:sldIdLst>
        </p14:section>
        <p14:section name="Results" id="{3a81db60-a8b1-76c8-408b-4bcd9027eac8}">
          <p14:sldIdLst>
            <p14:sldId id="263"/>
            <p14:sldId id="264"/>
            <p14:sldId id="265"/>
            <p14:sldId id="266"/>
          </p14:sldIdLst>
        </p14:section>
        <p14:section name="Wrap-up" id="{097faa67-1859-d96e-a3a3-9f73f91c8ddb}">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D24"/>
                </a:solidFill>
                <a:latin typeface="+mn-lt"/>
              </a:defRPr>
            </a:pPr>
            <a:r>
              <a:rPr sz="1300" b="0" i="0" u="none" strike="noStrike">
                <a:solidFill>
                  <a:srgbClr val="1A1D24"/>
                </a:solidFill>
                <a:latin typeface="+mn-lt"/>
              </a:rPr>
              <a:t>MRR on the 12 dev questions, dense search with bge-m3</a:t>
            </a:r>
          </a:p>
        </c:rich>
      </c:tx>
      <c:layout/>
      <c:overlay val="0"/>
    </c:title>
    <c:autoTitleDeleted val="0"/>
    <c:plotArea>
      <c:layout/>
      <c:barChart>
        <c:barDir val="bar"/>
        <c:grouping val="stacked"/>
        <c:varyColors val="0"/>
        <c:ser>
          <c:idx val="0"/>
          <c:order val="0"/>
          <c:tx>
            <c:strRef>
              <c:f>Sheet1!$B$1</c:f>
              <c:strCache>
                <c:ptCount val="1"/>
                <c:pt idx="0">
                  <c:v>Other settings</c:v>
                </c:pt>
              </c:strCache>
            </c:strRef>
          </c:tx>
          <c:spPr>
            <a:solidFill>
              <a:srgbClr val="C9CEDA"/>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Sheet1!$A$2:$A$17</c:f>
              <c:multiLvlStrCache>
                <c:ptCount val="16"/>
                <c:lvl>
                  <c:pt idx="0">
                    <c:v>recursive 800/120</c:v>
                  </c:pt>
                  <c:pt idx="1">
                    <c:v>recursive 500/100</c:v>
                  </c:pt>
                  <c:pt idx="2">
                    <c:v>recursive 500/150</c:v>
                  </c:pt>
                  <c:pt idx="3">
                    <c:v>fixed 256/0</c:v>
                  </c:pt>
                  <c:pt idx="4">
                    <c:v>fixed 256/50</c:v>
                  </c:pt>
                  <c:pt idx="5">
                    <c:v>semantic p90, capped</c:v>
                  </c:pt>
                  <c:pt idx="6">
                    <c:v>recursive 1200/200</c:v>
                  </c:pt>
                  <c:pt idx="7">
                    <c:v>recursive 800/200</c:v>
                  </c:pt>
                  <c:pt idx="8">
                    <c:v>fixed 512/0</c:v>
                  </c:pt>
                  <c:pt idx="9">
                    <c:v>semantic p90</c:v>
                  </c:pt>
                  <c:pt idx="10">
                    <c:v>semantic p95</c:v>
                  </c:pt>
                  <c:pt idx="11">
                    <c:v>fixed 512/0, no refs (chosen)</c:v>
                  </c:pt>
                  <c:pt idx="12">
                    <c:v>semantic p95, capped</c:v>
                  </c:pt>
                  <c:pt idx="13">
                    <c:v>recursive 1200/150</c:v>
                  </c:pt>
                  <c:pt idx="14">
                    <c:v>recursive 1200/150, no refs</c:v>
                  </c:pt>
                  <c:pt idx="15">
                    <c:v>fixed 512/50</c:v>
                  </c:pt>
                </c:lvl>
              </c:multiLvlStrCache>
            </c:multiLvlStrRef>
          </c:cat>
          <c:val>
            <c:numRef>
              <c:f>Sheet1!$B$2:$B$17</c:f>
              <c:numCache>
                <c:formatCode>General</c:formatCode>
                <c:ptCount val="16"/>
                <c:pt idx="0">
                  <c:v>0.792</c:v>
                </c:pt>
                <c:pt idx="1">
                  <c:v>0.819</c:v>
                </c:pt>
                <c:pt idx="2">
                  <c:v>0.819</c:v>
                </c:pt>
                <c:pt idx="3">
                  <c:v>0.847</c:v>
                </c:pt>
                <c:pt idx="4">
                  <c:v>0.854</c:v>
                </c:pt>
                <c:pt idx="5">
                  <c:v>0.873</c:v>
                </c:pt>
                <c:pt idx="6">
                  <c:v>0.875</c:v>
                </c:pt>
                <c:pt idx="7">
                  <c:v>0.917</c:v>
                </c:pt>
                <c:pt idx="8">
                  <c:v>0.917</c:v>
                </c:pt>
                <c:pt idx="9">
                  <c:v>0.917</c:v>
                </c:pt>
                <c:pt idx="10">
                  <c:v>0.917</c:v>
                </c:pt>
                <c:pt idx="11">
                  <c:v>0</c:v>
                </c:pt>
                <c:pt idx="12">
                  <c:v>0.929</c:v>
                </c:pt>
                <c:pt idx="13">
                  <c:v>0.944</c:v>
                </c:pt>
                <c:pt idx="14">
                  <c:v>0.944</c:v>
                </c:pt>
                <c:pt idx="15">
                  <c:v>0.958</c:v>
                </c:pt>
              </c:numCache>
            </c:numRef>
          </c:val>
        </c:ser>
        <c:ser>
          <c:idx val="1"/>
          <c:order val="1"/>
          <c:tx>
            <c:strRef>
              <c:f>Sheet1!$C$1</c:f>
              <c:strCache>
                <c:ptCount val="1"/>
                <c:pt idx="0">
                  <c:v>Chosen</c:v>
                </c:pt>
              </c:strCache>
            </c:strRef>
          </c:tx>
          <c:spPr>
            <a:solidFill>
              <a:srgbClr val="2F3C9E"/>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Sheet1!$A$2:$A$17</c:f>
              <c:multiLvlStrCache>
                <c:ptCount val="16"/>
                <c:lvl>
                  <c:pt idx="0">
                    <c:v>recursive 800/120</c:v>
                  </c:pt>
                  <c:pt idx="1">
                    <c:v>recursive 500/100</c:v>
                  </c:pt>
                  <c:pt idx="2">
                    <c:v>recursive 500/150</c:v>
                  </c:pt>
                  <c:pt idx="3">
                    <c:v>fixed 256/0</c:v>
                  </c:pt>
                  <c:pt idx="4">
                    <c:v>fixed 256/50</c:v>
                  </c:pt>
                  <c:pt idx="5">
                    <c:v>semantic p90, capped</c:v>
                  </c:pt>
                  <c:pt idx="6">
                    <c:v>recursive 1200/200</c:v>
                  </c:pt>
                  <c:pt idx="7">
                    <c:v>recursive 800/200</c:v>
                  </c:pt>
                  <c:pt idx="8">
                    <c:v>fixed 512/0</c:v>
                  </c:pt>
                  <c:pt idx="9">
                    <c:v>semantic p90</c:v>
                  </c:pt>
                  <c:pt idx="10">
                    <c:v>semantic p95</c:v>
                  </c:pt>
                  <c:pt idx="11">
                    <c:v>fixed 512/0, no refs (chosen)</c:v>
                  </c:pt>
                  <c:pt idx="12">
                    <c:v>semantic p95, capped</c:v>
                  </c:pt>
                  <c:pt idx="13">
                    <c:v>recursive 1200/150</c:v>
                  </c:pt>
                  <c:pt idx="14">
                    <c:v>recursive 1200/150, no refs</c:v>
                  </c:pt>
                  <c:pt idx="15">
                    <c:v>fixed 512/50</c:v>
                  </c:pt>
                </c:lvl>
              </c:multiLvlStrCache>
            </c:multiLvlStrRef>
          </c:cat>
          <c:val>
            <c:numRef>
              <c:f>Sheet1!$C$2:$C$17</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0.917</c:v>
                </c:pt>
                <c:pt idx="12">
                  <c:v>0</c:v>
                </c:pt>
                <c:pt idx="13">
                  <c:v>0</c:v>
                </c:pt>
                <c:pt idx="14">
                  <c:v>0</c:v>
                </c:pt>
                <c:pt idx="15">
                  <c:v>0</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272"/>
                </a:solidFill>
                <a:latin typeface="+mn-lt"/>
              </a:defRPr>
            </a:pPr>
            <a:endParaRPr lang="en-US"/>
          </a:p>
        </c:txPr>
        <c:crossAx val="2094734552"/>
        <c:crosses val="autoZero"/>
        <c:auto val="1"/>
        <c:lblAlgn val="ctr"/>
        <c:noMultiLvlLbl val="1"/>
      </c:catAx>
      <c:valAx>
        <c:axId val="2094734552"/>
        <c:scaling>
          <c:orientation val="minMax"/>
          <c:max val="1"/>
          <c:min val="0.7"/>
        </c:scaling>
        <c:delete val="0"/>
        <c:axPos val="b"/>
        <c:majorGridlines>
          <c:spPr>
            <a:ln w="6350" cap="flat">
              <a:solidFill>
                <a:srgbClr val="D9DC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272"/>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D24"/>
                </a:solidFill>
                <a:latin typeface="+mn-lt"/>
              </a:defRPr>
            </a:pPr>
            <a:r>
              <a:rPr sz="1300" b="0" i="0" u="none" strike="noStrike">
                <a:solidFill>
                  <a:srgbClr val="1A1D24"/>
                </a:solidFill>
                <a:latin typeface="+mn-lt"/>
              </a:rPr>
              <a:t>Held-out questions (12 answerable), reported once</a:t>
            </a:r>
          </a:p>
        </c:rich>
      </c:tx>
      <c:layout/>
      <c:overlay val="0"/>
    </c:title>
    <c:autoTitleDeleted val="0"/>
    <c:plotArea>
      <c:layout/>
      <c:barChart>
        <c:barDir val="col"/>
        <c:grouping val="clustered"/>
        <c:varyColors val="0"/>
        <c:ser>
          <c:idx val="0"/>
          <c:order val="0"/>
          <c:tx>
            <c:strRef>
              <c:f>Sheet1!$B$1</c:f>
              <c:strCache>
                <c:ptCount val="1"/>
                <c:pt idx="0">
                  <c:v>hit@1</c:v>
                </c:pt>
              </c:strCache>
            </c:strRef>
          </c:tx>
          <c:spPr>
            <a:solidFill>
              <a:srgbClr val="C9CEDA"/>
            </a:solidFill>
            <a:effectLst/>
          </c:spPr>
          <c:invertIfNegative val="0"/>
          <c:dLbls>
            <c:numFmt formatCode="0.00" sourceLinked="0"/>
            <c:txPr>
              <a:bodyPr/>
              <a:lstStyle/>
              <a:p>
                <a:pPr>
                  <a:defRPr b="0" i="0" strike="noStrike" sz="1100" u="none">
                    <a:solidFill>
                      <a:srgbClr val="1A1D24"/>
                    </a:solidFill>
                    <a:latin typeface="+mn-lt"/>
                  </a:defRPr>
                </a:pPr>
              </a:p>
            </c:txPr>
            <c:showLegendKey val="0"/>
            <c:showVal val="1"/>
            <c:showCatName val="0"/>
            <c:showSerName val="0"/>
            <c:showPercent val="0"/>
            <c:showBubbleSize val="0"/>
            <c:showLeaderLines val="0"/>
          </c:dLbls>
          <c:cat>
            <c:multiLvlStrRef>
              <c:f>Sheet1!$A$2:$A$5</c:f>
              <c:multiLvlStrCache>
                <c:ptCount val="4"/>
                <c:lvl>
                  <c:pt idx="0">
                    <c:v>Dense</c:v>
                  </c:pt>
                  <c:pt idx="1">
                    <c:v>Hybrid (CPU profile)</c:v>
                  </c:pt>
                  <c:pt idx="2">
                    <c:v>Hybrid + rerank (final)</c:v>
                  </c:pt>
                  <c:pt idx="3">
                    <c:v>Gemini, hybrid + rerank</c:v>
                  </c:pt>
                </c:lvl>
              </c:multiLvlStrCache>
            </c:multiLvlStrRef>
          </c:cat>
          <c:val>
            <c:numRef>
              <c:f>Sheet1!$B$2:$B$5</c:f>
              <c:numCache>
                <c:formatCode>General</c:formatCode>
                <c:ptCount val="4"/>
                <c:pt idx="0">
                  <c:v>0.667</c:v>
                </c:pt>
                <c:pt idx="1">
                  <c:v>0.75</c:v>
                </c:pt>
                <c:pt idx="2">
                  <c:v>0.75</c:v>
                </c:pt>
                <c:pt idx="3">
                  <c:v>0.833</c:v>
                </c:pt>
              </c:numCache>
            </c:numRef>
          </c:val>
        </c:ser>
        <c:ser>
          <c:idx val="1"/>
          <c:order val="1"/>
          <c:tx>
            <c:strRef>
              <c:f>Sheet1!$C$1</c:f>
              <c:strCache>
                <c:ptCount val="1"/>
                <c:pt idx="0">
                  <c:v>hit@3</c:v>
                </c:pt>
              </c:strCache>
            </c:strRef>
          </c:tx>
          <c:spPr>
            <a:solidFill>
              <a:srgbClr val="2F3C9E"/>
            </a:solidFill>
            <a:effectLst/>
          </c:spPr>
          <c:invertIfNegative val="0"/>
          <c:dLbls>
            <c:numFmt formatCode="0.00" sourceLinked="0"/>
            <c:txPr>
              <a:bodyPr/>
              <a:lstStyle/>
              <a:p>
                <a:pPr>
                  <a:defRPr b="0" i="0" strike="noStrike" sz="1100" u="none">
                    <a:solidFill>
                      <a:srgbClr val="1A1D24"/>
                    </a:solidFill>
                    <a:latin typeface="+mn-lt"/>
                  </a:defRPr>
                </a:pPr>
              </a:p>
            </c:txPr>
            <c:showLegendKey val="0"/>
            <c:showVal val="1"/>
            <c:showCatName val="0"/>
            <c:showSerName val="0"/>
            <c:showPercent val="0"/>
            <c:showBubbleSize val="0"/>
            <c:showLeaderLines val="0"/>
          </c:dLbls>
          <c:cat>
            <c:multiLvlStrRef>
              <c:f>Sheet1!$A$2:$A$5</c:f>
              <c:multiLvlStrCache>
                <c:ptCount val="4"/>
                <c:lvl>
                  <c:pt idx="0">
                    <c:v>Dense</c:v>
                  </c:pt>
                  <c:pt idx="1">
                    <c:v>Hybrid (CPU profile)</c:v>
                  </c:pt>
                  <c:pt idx="2">
                    <c:v>Hybrid + rerank (final)</c:v>
                  </c:pt>
                  <c:pt idx="3">
                    <c:v>Gemini, hybrid + rerank</c:v>
                  </c:pt>
                </c:lvl>
              </c:multiLvlStrCache>
            </c:multiLvlStrRef>
          </c:cat>
          <c:val>
            <c:numRef>
              <c:f>Sheet1!$C$2:$C$5</c:f>
              <c:numCache>
                <c:formatCode>General</c:formatCode>
                <c:ptCount val="4"/>
                <c:pt idx="0">
                  <c:v>0.833</c:v>
                </c:pt>
                <c:pt idx="1">
                  <c:v>0.833</c:v>
                </c:pt>
                <c:pt idx="2">
                  <c:v>1</c:v>
                </c:pt>
                <c:pt idx="3">
                  <c:v>1</c:v>
                </c:pt>
              </c:numCache>
            </c:numRef>
          </c:val>
        </c:ser>
        <c:ser>
          <c:idx val="2"/>
          <c:order val="2"/>
          <c:tx>
            <c:strRef>
              <c:f>Sheet1!$D$1</c:f>
              <c:strCache>
                <c:ptCount val="1"/>
                <c:pt idx="0">
                  <c:v>MRR</c:v>
                </c:pt>
              </c:strCache>
            </c:strRef>
          </c:tx>
          <c:spPr>
            <a:solidFill>
              <a:srgbClr val="B86E12"/>
            </a:solidFill>
            <a:effectLst/>
          </c:spPr>
          <c:invertIfNegative val="0"/>
          <c:dLbls>
            <c:numFmt formatCode="0.00" sourceLinked="0"/>
            <c:txPr>
              <a:bodyPr/>
              <a:lstStyle/>
              <a:p>
                <a:pPr>
                  <a:defRPr b="0" i="0" strike="noStrike" sz="1100" u="none">
                    <a:solidFill>
                      <a:srgbClr val="1A1D24"/>
                    </a:solidFill>
                    <a:latin typeface="+mn-lt"/>
                  </a:defRPr>
                </a:pPr>
              </a:p>
            </c:txPr>
            <c:showLegendKey val="0"/>
            <c:showVal val="1"/>
            <c:showCatName val="0"/>
            <c:showSerName val="0"/>
            <c:showPercent val="0"/>
            <c:showBubbleSize val="0"/>
            <c:showLeaderLines val="0"/>
          </c:dLbls>
          <c:cat>
            <c:multiLvlStrRef>
              <c:f>Sheet1!$A$2:$A$5</c:f>
              <c:multiLvlStrCache>
                <c:ptCount val="4"/>
                <c:lvl>
                  <c:pt idx="0">
                    <c:v>Dense</c:v>
                  </c:pt>
                  <c:pt idx="1">
                    <c:v>Hybrid (CPU profile)</c:v>
                  </c:pt>
                  <c:pt idx="2">
                    <c:v>Hybrid + rerank (final)</c:v>
                  </c:pt>
                  <c:pt idx="3">
                    <c:v>Gemini, hybrid + rerank</c:v>
                  </c:pt>
                </c:lvl>
              </c:multiLvlStrCache>
            </c:multiLvlStrRef>
          </c:cat>
          <c:val>
            <c:numRef>
              <c:f>Sheet1!$D$2:$D$5</c:f>
              <c:numCache>
                <c:formatCode>General</c:formatCode>
                <c:ptCount val="4"/>
                <c:pt idx="0">
                  <c:v>0.736</c:v>
                </c:pt>
                <c:pt idx="1">
                  <c:v>0.801</c:v>
                </c:pt>
                <c:pt idx="2">
                  <c:v>0.847</c:v>
                </c:pt>
                <c:pt idx="3">
                  <c:v>0.889</c:v>
                </c:pt>
              </c:numCache>
            </c:numRef>
          </c:val>
        </c:ser>
        <c:dLbls>
          <c:numFmt formatCode="0.00" sourceLinked="0"/>
          <c:txPr>
            <a:bodyPr/>
            <a:lstStyle/>
            <a:p>
              <a:pPr>
                <a:defRPr b="0" i="0" strike="noStrike" sz="1100" u="none">
                  <a:solidFill>
                    <a:srgbClr val="1A1D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272"/>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D9DCE3"/>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272"/>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Paper Answer Bot: a retrieval-augmented question answering system over 11 seminal GenAI papers. Every answer is written only from the papers and shows the three passages it used, by paper title and page. It runs entirely on a laptop: llama3.1 8B through Ollama, bge-m3 embeddings, ChromaDB.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LLMs answer confidently but cannot point to evidence. The objective is grounded answers with citations a reader can verify, and an explicit refusal when the papers do not answer the question. The corpus: Attention, BERT, GPT-3, InstructGPT, Llama 2, LoRA, QLoRA, DPR, RAG, chain-of-thought and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ingestion turns the PDFs into a vector index and a keyword index. For each question, hybrid search merges dense and BM25 results, a cross-encoder reranks 20 candidates to 3, and llama3.1 answers only from those three numbered passages. Sources are built from metadata, so a citation can never point to a page that was not retrieved. Dashed boxes are the optional stretch stages: follow-up rewriting (S1) and the web fallback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11 papers from arXiv. Pages are loaded one by one so every chunk keeps its page number for citations. PyPDF beat pdfplumber on speed and coverage. Six cleaning rules fix extraction defects, including a shifted font encoding in ReAct's figures. The evaluation set has 29 questions: 12 dev and 12 held-out answerable ones, plus 5 out-of-scope questions that the bot should refuse; held-out questions were never used for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chunking settings were scored on the dev questions with dense retrieval. Hit@3 is 1.0 for most of them, so MRR separates them. The chosen setting, 512-token chunks without overlap and without bibliography chunks, ties for the best hit@3 with the smallest index. fixed_512_50 has a higher MRR by one question ranked second instead of first; section 6 showed that reranking puts a gold page first for every dev question, so it was not worth rebuilding every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open-source and one commercial embedding model, each in its own Chroma collection. On dense retrieval they are level; with reranking they return the same top passages on dev. On held-out questions Gemini's MRR is slightly higher, 0.889 against 0.847, which is one question ranked second; recall is identical. bge-m3 wins on everything practical: 27 ms per query against about half a second, an index built in 11 seconds instead of 15 minutes, no cost, and no quota. The Gemini free tier was exhausted during the experiments, which made the dependency risk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Strategies were tuned on the dev questions only, then the finalists were scored once on the held-out set. Hybrid search with the cross-encoder reranker puts a gold page in the top 3 for every held-out answerable question, against 0.833 for dense search, in about 0.56 seconds. Without a GPU the reranker is switched off and the bot uses plain hybrid search, which is weaker and documented as reduced quality. The reranker's top score doubles as the weak-context signal used for refusals and for the web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is plain LCEL: retrieve, build a numbered context, prompt, generate, parse. The prompt asks for inline citations and an exact refusal sentence. Two guards do not depend on the model behaving: citation markers that point to no passage are removed while the answer streams, and anything that reads as a refusal is replaced by the exact sentence, with the closest passages still shown. When the top passage scores below the calibrated threshold, a notice in the prompt makes refusing the expected default; that took out-of-scope refusals from 2 of 5 to 5 of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answer was scored by hand on relevance, accuracy and groundedness, plus a hallucination flag, then checked against an LLM judge. On held-out questions the answers are relevant and grounded; accuracy is lower because of one recurring error: the model picks a neighbouring number from the right passage. The judge is useful for accuracy but misses most hallucinations, because a wrong number that appears somewhere in the passages looks supported. Latency on the RTX 4060: first word after about 2 seconds, full answer in about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the notebook's final demo produces for the method-detail question: the claim matches page 4 of the LoRA paper, and the reader highlights that sentence. The live demo follows the script in the README: a factual lookup, this method detail, a cross-paper comparison, a follow-up that needs the conversation, an out-of-scope question that is refused, and optionally the web fallback. Ask the follow-up straight after the comparison. Fallback screenshots for every step are in slides/screenshots.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the rewriter turns follow-ups into standalone questions; retrieval only ever sees the rewrite, and both apps show it as 'Searched as'. S2: two front ends over the same package, checked in a real browser in every state. S3: the web fallback is off by default because it also answers out-of-scope questions, which the evaluation counts as refusals; when it is on, web sources are clearly labelled and the question leaves the machine, which the apps say next to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problems that changed the design. The Gemini free tier ran out during the retrieval sweeps, which pushed the decision to the local model. A gold-page audit found answers on appendix pages the labels missed, so retrieval was re-scored. Out-of-scope questions were sometimes answered from loosely related passages until the weak-context notice. The judge could not be trusted for hallucinations. The follow-up rewriter was pulled towards the first topic of a conversation until it stopped seeing earlier answers. And everything had to share one 8 GB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retrieval quality came from hybrid search with a reranker, and trust came from building citations out of metadata and refusing when the context is weak. The main limits are the size of the evaluation and the 8B model's neighbouring-number errors. Next steps target exactly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Research Paper Answer Bot</a:t>
            </a:r>
            <a:endParaRPr lang="en-US" sz="1000" dirty="0"/>
          </a:p>
        </p:txBody>
      </p:sp>
      <p:sp>
        <p:nvSpPr>
          <p:cNvPr id="3" name="Text 1"/>
          <p:cNvSpPr/>
          <p:nvPr>
            <p:ph idx="101" type="title" hasCustomPrompt="1"/>
          </p:nvPr>
        </p:nvSpPr>
        <p:spPr>
          <a:xfrm>
            <a:off x="548640" y="384048"/>
            <a:ext cx="11091672"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Research Paper Answer Bot</a:t>
            </a:r>
            <a:endParaRPr lang="en-US" sz="1000" dirty="0"/>
          </a:p>
        </p:txBody>
      </p:sp>
      <p:sp>
        <p:nvSpPr>
          <p:cNvPr id="3" name="Text 1"/>
          <p:cNvSpPr/>
          <p:nvPr>
            <p:ph idx="101" type="title" hasCustomPrompt="1"/>
          </p:nvPr>
        </p:nvSpPr>
        <p:spPr>
          <a:xfrm>
            <a:off x="548640" y="384048"/>
            <a:ext cx="11091672"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766560" cy="15544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429000"/>
            <a:ext cx="640080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766560" cy="1554480"/>
          </a:xfrm>
          <a:prstGeom prst="rect">
            <a:avLst/>
          </a:prstGeom>
          <a:noFill/>
          <a:ln/>
        </p:spPr>
        <p:txBody>
          <a:bodyPr wrap="square" lIns="0" tIns="0" rIns="0" bIns="0" rtlCol="0" anchor="b"/>
          <a:lstStyle/>
          <a:p>
            <a:pPr algn="l" indent="0" marL="0">
              <a:buNone/>
            </a:pPr>
            <a:r>
              <a:rPr lang="en-US" sz="4800" b="1" dirty="0">
                <a:solidFill>
                  <a:schemeClr val="bg1"/>
                </a:solidFill>
              </a:rPr>
              <a:t>Research Paper</a:t>
            </a:r>
            <a:endParaRPr lang="en-US" sz="4800" dirty="0"/>
          </a:p>
          <a:p>
            <a:pPr algn="l" indent="0" marL="0">
              <a:buNone/>
            </a:pPr>
            <a:r>
              <a:rPr lang="en-US" sz="4800" b="1" dirty="0">
                <a:solidFill>
                  <a:schemeClr val="bg1"/>
                </a:solidFill>
              </a:rPr>
              <a:t>Answer Bot</a:t>
            </a:r>
            <a:endParaRPr lang="en-US" sz="4800" dirty="0"/>
          </a:p>
        </p:txBody>
      </p:sp>
      <p:sp>
        <p:nvSpPr>
          <p:cNvPr id="3" name="Text 0"/>
          <p:cNvSpPr/>
          <p:nvPr>
            <p:ph idx="101" type="body" hasCustomPrompt="1"/>
          </p:nvPr>
        </p:nvSpPr>
        <p:spPr>
          <a:xfrm>
            <a:off x="731520" y="3429000"/>
            <a:ext cx="6400800" cy="1097280"/>
          </a:xfrm>
          <a:prstGeom prst="rect">
            <a:avLst/>
          </a:prstGeom>
          <a:noFill/>
          <a:ln/>
        </p:spPr>
        <p:txBody>
          <a:bodyPr wrap="square" lIns="0" tIns="0" rIns="0" bIns="0" rtlCol="0" anchor="t"/>
          <a:lstStyle/>
          <a:p>
            <a:pPr indent="0" marL="0">
              <a:buNone/>
            </a:pPr>
            <a:r>
              <a:rPr lang="en-US" sz="2000" dirty="0">
                <a:solidFill>
                  <a:schemeClr val="bg2"/>
                </a:solidFill>
              </a:rPr>
              <a:t>Grounded answers from 11 seminal GenAI papers, each with the three passages it was written from</a:t>
            </a:r>
            <a:endParaRPr lang="en-US" sz="2000" dirty="0"/>
          </a:p>
        </p:txBody>
      </p:sp>
      <p:sp>
        <p:nvSpPr>
          <p:cNvPr id="4" name="Text 2"/>
          <p:cNvSpPr txBox="1"/>
          <p:nvPr/>
        </p:nvSpPr>
        <p:spPr>
          <a:xfrm>
            <a:off x="731520" y="5897880"/>
            <a:ext cx="7315200" cy="365760"/>
          </a:xfrm>
          <a:prstGeom prst="rect">
            <a:avLst/>
          </a:prstGeom>
          <a:noFill/>
          <a:ln/>
        </p:spPr>
        <p:txBody>
          <a:bodyPr wrap="square" lIns="0" tIns="0" rIns="0" bIns="0" rtlCol="0" anchor="t"/>
          <a:lstStyle/>
          <a:p>
            <a:pPr indent="0" marL="0">
              <a:buNone/>
            </a:pPr>
            <a:r>
              <a:rPr lang="en-US" sz="1600" dirty="0">
                <a:solidFill>
                  <a:schemeClr val="bg2"/>
                </a:solidFill>
              </a:rPr>
              <a:t>[Your name]  ·  GenAI Pinnacle Plus capstone  ·  October 2026</a:t>
            </a:r>
            <a:endParaRPr lang="en-US" sz="1600" dirty="0"/>
          </a:p>
        </p:txBody>
      </p:sp>
      <p:sp>
        <p:nvSpPr>
          <p:cNvPr id="5" name="source-card-1"/>
          <p:cNvSpPr/>
          <p:nvPr/>
        </p:nvSpPr>
        <p:spPr>
          <a:xfrm>
            <a:off x="8001000" y="1691640"/>
            <a:ext cx="3611880" cy="841248"/>
          </a:xfrm>
          <a:prstGeom prst="roundRect">
            <a:avLst>
              <a:gd name="adj" fmla="val 8696"/>
            </a:avLst>
          </a:prstGeom>
          <a:solidFill>
            <a:srgbClr val="262A33"/>
          </a:solidFill>
          <a:ln w="9525">
            <a:solidFill>
              <a:schemeClr val="accent5"/>
            </a:solidFill>
            <a:prstDash val="solid"/>
          </a:ln>
        </p:spPr>
      </p:sp>
      <p:sp>
        <p:nvSpPr>
          <p:cNvPr id="6" name="card-badge-1"/>
          <p:cNvSpPr/>
          <p:nvPr/>
        </p:nvSpPr>
        <p:spPr>
          <a:xfrm>
            <a:off x="8211312" y="192024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8211312" y="19202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6"/>
          <p:cNvSpPr txBox="1"/>
          <p:nvPr/>
        </p:nvSpPr>
        <p:spPr>
          <a:xfrm>
            <a:off x="8778240" y="1837944"/>
            <a:ext cx="2697480" cy="310896"/>
          </a:xfrm>
          <a:prstGeom prst="rect">
            <a:avLst/>
          </a:prstGeom>
          <a:noFill/>
          <a:ln/>
        </p:spPr>
        <p:txBody>
          <a:bodyPr wrap="square" lIns="0" tIns="0" rIns="0" bIns="0" rtlCol="0" anchor="t"/>
          <a:lstStyle/>
          <a:p>
            <a:pPr indent="0" marL="0">
              <a:buNone/>
            </a:pPr>
            <a:r>
              <a:rPr lang="en-US" sz="1500" b="1" dirty="0">
                <a:solidFill>
                  <a:schemeClr val="bg1"/>
                </a:solidFill>
              </a:rPr>
              <a:t>Attention Is All You Need</a:t>
            </a:r>
            <a:endParaRPr lang="en-US" sz="1500" dirty="0"/>
          </a:p>
        </p:txBody>
      </p:sp>
      <p:sp>
        <p:nvSpPr>
          <p:cNvPr id="9" name="Text 7"/>
          <p:cNvSpPr txBox="1"/>
          <p:nvPr/>
        </p:nvSpPr>
        <p:spPr>
          <a:xfrm>
            <a:off x="8778240" y="2148840"/>
            <a:ext cx="2697480" cy="274320"/>
          </a:xfrm>
          <a:prstGeom prst="rect">
            <a:avLst/>
          </a:prstGeom>
          <a:noFill/>
          <a:ln/>
        </p:spPr>
        <p:txBody>
          <a:bodyPr wrap="square" lIns="0" tIns="0" rIns="0" bIns="0" rtlCol="0" anchor="t"/>
          <a:lstStyle/>
          <a:p>
            <a:pPr indent="0" marL="0">
              <a:buNone/>
            </a:pPr>
            <a:r>
              <a:rPr lang="en-US" sz="1200" dirty="0">
                <a:solidFill>
                  <a:schemeClr val="accent5"/>
                </a:solidFill>
              </a:rPr>
              <a:t>p. 5   ·   rerank 0.96</a:t>
            </a:r>
            <a:endParaRPr lang="en-US" sz="1200" dirty="0"/>
          </a:p>
        </p:txBody>
      </p:sp>
      <p:sp>
        <p:nvSpPr>
          <p:cNvPr id="10" name="source-card-2"/>
          <p:cNvSpPr/>
          <p:nvPr/>
        </p:nvSpPr>
        <p:spPr>
          <a:xfrm>
            <a:off x="8001000" y="2715768"/>
            <a:ext cx="3611880" cy="841248"/>
          </a:xfrm>
          <a:prstGeom prst="roundRect">
            <a:avLst>
              <a:gd name="adj" fmla="val 8696"/>
            </a:avLst>
          </a:prstGeom>
          <a:solidFill>
            <a:srgbClr val="262A33"/>
          </a:solidFill>
          <a:ln w="9525">
            <a:solidFill>
              <a:schemeClr val="accent5"/>
            </a:solidFill>
            <a:prstDash val="solid"/>
          </a:ln>
        </p:spPr>
      </p:sp>
      <p:sp>
        <p:nvSpPr>
          <p:cNvPr id="11" name="card-badge-2"/>
          <p:cNvSpPr/>
          <p:nvPr/>
        </p:nvSpPr>
        <p:spPr>
          <a:xfrm>
            <a:off x="8211312" y="2944368"/>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8211312" y="294436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1"/>
          <p:cNvSpPr txBox="1"/>
          <p:nvPr/>
        </p:nvSpPr>
        <p:spPr>
          <a:xfrm>
            <a:off x="8778240" y="2862072"/>
            <a:ext cx="2697480" cy="310896"/>
          </a:xfrm>
          <a:prstGeom prst="rect">
            <a:avLst/>
          </a:prstGeom>
          <a:noFill/>
          <a:ln/>
        </p:spPr>
        <p:txBody>
          <a:bodyPr wrap="square" lIns="0" tIns="0" rIns="0" bIns="0" rtlCol="0" anchor="t"/>
          <a:lstStyle/>
          <a:p>
            <a:pPr indent="0" marL="0">
              <a:buNone/>
            </a:pPr>
            <a:r>
              <a:rPr lang="en-US" sz="1500" b="1" dirty="0">
                <a:solidFill>
                  <a:schemeClr val="bg1"/>
                </a:solidFill>
              </a:rPr>
              <a:t>LoRA: Low-Rank Adaptation</a:t>
            </a:r>
            <a:endParaRPr lang="en-US" sz="1500" dirty="0"/>
          </a:p>
        </p:txBody>
      </p:sp>
      <p:sp>
        <p:nvSpPr>
          <p:cNvPr id="14" name="Text 12"/>
          <p:cNvSpPr txBox="1"/>
          <p:nvPr/>
        </p:nvSpPr>
        <p:spPr>
          <a:xfrm>
            <a:off x="8778240" y="3172968"/>
            <a:ext cx="2697480" cy="274320"/>
          </a:xfrm>
          <a:prstGeom prst="rect">
            <a:avLst/>
          </a:prstGeom>
          <a:noFill/>
          <a:ln/>
        </p:spPr>
        <p:txBody>
          <a:bodyPr wrap="square" lIns="0" tIns="0" rIns="0" bIns="0" rtlCol="0" anchor="t"/>
          <a:lstStyle/>
          <a:p>
            <a:pPr indent="0" marL="0">
              <a:buNone/>
            </a:pPr>
            <a:r>
              <a:rPr lang="en-US" sz="1200" dirty="0">
                <a:solidFill>
                  <a:schemeClr val="accent5"/>
                </a:solidFill>
              </a:rPr>
              <a:t>p. 4   ·   rerank 0.85</a:t>
            </a:r>
            <a:endParaRPr lang="en-US" sz="1200" dirty="0"/>
          </a:p>
        </p:txBody>
      </p:sp>
      <p:sp>
        <p:nvSpPr>
          <p:cNvPr id="15" name="source-card-3"/>
          <p:cNvSpPr/>
          <p:nvPr/>
        </p:nvSpPr>
        <p:spPr>
          <a:xfrm>
            <a:off x="8001000" y="3739896"/>
            <a:ext cx="3611880" cy="841248"/>
          </a:xfrm>
          <a:prstGeom prst="roundRect">
            <a:avLst>
              <a:gd name="adj" fmla="val 8696"/>
            </a:avLst>
          </a:prstGeom>
          <a:solidFill>
            <a:srgbClr val="262A33"/>
          </a:solidFill>
          <a:ln w="9525">
            <a:solidFill>
              <a:schemeClr val="accent5"/>
            </a:solidFill>
            <a:prstDash val="solid"/>
          </a:ln>
        </p:spPr>
      </p:sp>
      <p:sp>
        <p:nvSpPr>
          <p:cNvPr id="16" name="card-badge-3"/>
          <p:cNvSpPr/>
          <p:nvPr/>
        </p:nvSpPr>
        <p:spPr>
          <a:xfrm>
            <a:off x="8211312" y="3968496"/>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8211312" y="396849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6"/>
          <p:cNvSpPr txBox="1"/>
          <p:nvPr/>
        </p:nvSpPr>
        <p:spPr>
          <a:xfrm>
            <a:off x="8778240" y="3886200"/>
            <a:ext cx="2697480" cy="310896"/>
          </a:xfrm>
          <a:prstGeom prst="rect">
            <a:avLst/>
          </a:prstGeom>
          <a:noFill/>
          <a:ln/>
        </p:spPr>
        <p:txBody>
          <a:bodyPr wrap="square" lIns="0" tIns="0" rIns="0" bIns="0" rtlCol="0" anchor="t"/>
          <a:lstStyle/>
          <a:p>
            <a:pPr indent="0" marL="0">
              <a:buNone/>
            </a:pPr>
            <a:r>
              <a:rPr lang="en-US" sz="1500" b="1" dirty="0">
                <a:solidFill>
                  <a:schemeClr val="bg1"/>
                </a:solidFill>
              </a:rPr>
              <a:t>QLoRA: Efficient Finetuning</a:t>
            </a:r>
            <a:endParaRPr lang="en-US" sz="1500" dirty="0"/>
          </a:p>
        </p:txBody>
      </p:sp>
      <p:sp>
        <p:nvSpPr>
          <p:cNvPr id="19" name="Text 17"/>
          <p:cNvSpPr txBox="1"/>
          <p:nvPr/>
        </p:nvSpPr>
        <p:spPr>
          <a:xfrm>
            <a:off x="8778240" y="4197096"/>
            <a:ext cx="2697480" cy="274320"/>
          </a:xfrm>
          <a:prstGeom prst="rect">
            <a:avLst/>
          </a:prstGeom>
          <a:noFill/>
          <a:ln/>
        </p:spPr>
        <p:txBody>
          <a:bodyPr wrap="square" lIns="0" tIns="0" rIns="0" bIns="0" rtlCol="0" anchor="t"/>
          <a:lstStyle/>
          <a:p>
            <a:pPr indent="0" marL="0">
              <a:buNone/>
            </a:pPr>
            <a:r>
              <a:rPr lang="en-US" sz="1200" dirty="0">
                <a:solidFill>
                  <a:schemeClr val="accent5"/>
                </a:solidFill>
              </a:rPr>
              <a:t>p. 1   ·   rerank 0.91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Answers from the papers, or no answer at all</a:t>
            </a:r>
            <a:endParaRPr lang="en-US" sz="3200" dirty="0"/>
          </a:p>
        </p:txBody>
      </p:sp>
      <p:sp>
        <p:nvSpPr>
          <p:cNvPr id="3" name="badge-1"/>
          <p:cNvSpPr/>
          <p:nvPr/>
        </p:nvSpPr>
        <p:spPr>
          <a:xfrm>
            <a:off x="548640" y="146304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3"/>
          <p:cNvSpPr txBox="1"/>
          <p:nvPr/>
        </p:nvSpPr>
        <p:spPr>
          <a:xfrm>
            <a:off x="1115568" y="1444752"/>
            <a:ext cx="6382512" cy="329184"/>
          </a:xfrm>
          <a:prstGeom prst="rect">
            <a:avLst/>
          </a:prstGeom>
          <a:noFill/>
          <a:ln/>
        </p:spPr>
        <p:txBody>
          <a:bodyPr wrap="square" lIns="0" tIns="0" rIns="0" bIns="0" rtlCol="0" anchor="t"/>
          <a:lstStyle/>
          <a:p>
            <a:pPr indent="0" marL="0">
              <a:buNone/>
            </a:pPr>
            <a:r>
              <a:rPr lang="en-US" sz="1700" b="1" dirty="0">
                <a:solidFill>
                  <a:schemeClr val="tx1"/>
                </a:solidFill>
              </a:rPr>
              <a:t>Context</a:t>
            </a:r>
            <a:endParaRPr lang="en-US" sz="1700" dirty="0"/>
          </a:p>
        </p:txBody>
      </p:sp>
      <p:sp>
        <p:nvSpPr>
          <p:cNvPr id="6" name="Text 4"/>
          <p:cNvSpPr txBox="1"/>
          <p:nvPr/>
        </p:nvSpPr>
        <p:spPr>
          <a:xfrm>
            <a:off x="1115568" y="1792224"/>
            <a:ext cx="6382512" cy="1152144"/>
          </a:xfrm>
          <a:prstGeom prst="rect">
            <a:avLst/>
          </a:prstGeom>
          <a:noFill/>
          <a:ln/>
        </p:spPr>
        <p:txBody>
          <a:bodyPr wrap="square" lIns="0" tIns="0" rIns="0" bIns="0" rtlCol="0" anchor="t"/>
          <a:lstStyle/>
          <a:p>
            <a:pPr indent="0" marL="0">
              <a:buNone/>
            </a:pPr>
            <a:r>
              <a:rPr lang="en-US" sz="1500" dirty="0">
                <a:solidFill>
                  <a:schemeClr val="tx1"/>
                </a:solidFill>
              </a:rPr>
              <a:t>Students and researchers work from long, dense papers. A general chatbot answers fluently, but it cannot show where a claim comes from, and it invents details.</a:t>
            </a:r>
            <a:endParaRPr lang="en-US" sz="1500" dirty="0"/>
          </a:p>
        </p:txBody>
      </p:sp>
      <p:sp>
        <p:nvSpPr>
          <p:cNvPr id="7" name="badge-2"/>
          <p:cNvSpPr/>
          <p:nvPr/>
        </p:nvSpPr>
        <p:spPr>
          <a:xfrm>
            <a:off x="548640" y="2999232"/>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548640" y="299923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1115568" y="2980944"/>
            <a:ext cx="6382512" cy="329184"/>
          </a:xfrm>
          <a:prstGeom prst="rect">
            <a:avLst/>
          </a:prstGeom>
          <a:noFill/>
          <a:ln/>
        </p:spPr>
        <p:txBody>
          <a:bodyPr wrap="square" lIns="0" tIns="0" rIns="0" bIns="0" rtlCol="0" anchor="t"/>
          <a:lstStyle/>
          <a:p>
            <a:pPr indent="0" marL="0">
              <a:buNone/>
            </a:pPr>
            <a:r>
              <a:rPr lang="en-US" sz="1700" b="1" dirty="0">
                <a:solidFill>
                  <a:schemeClr val="tx1"/>
                </a:solidFill>
              </a:rPr>
              <a:t>Objective</a:t>
            </a:r>
            <a:endParaRPr lang="en-US" sz="1700" dirty="0"/>
          </a:p>
        </p:txBody>
      </p:sp>
      <p:sp>
        <p:nvSpPr>
          <p:cNvPr id="10" name="Text 8"/>
          <p:cNvSpPr txBox="1"/>
          <p:nvPr/>
        </p:nvSpPr>
        <p:spPr>
          <a:xfrm>
            <a:off x="1115568" y="3328416"/>
            <a:ext cx="6382512" cy="1152144"/>
          </a:xfrm>
          <a:prstGeom prst="rect">
            <a:avLst/>
          </a:prstGeom>
          <a:noFill/>
          <a:ln/>
        </p:spPr>
        <p:txBody>
          <a:bodyPr wrap="square" lIns="0" tIns="0" rIns="0" bIns="0" rtlCol="0" anchor="t"/>
          <a:lstStyle/>
          <a:p>
            <a:pPr indent="0" marL="0">
              <a:buNone/>
            </a:pPr>
            <a:r>
              <a:rPr lang="en-US" sz="1500" dirty="0">
                <a:solidFill>
                  <a:schemeClr val="tx1"/>
                </a:solidFill>
              </a:rPr>
              <a:t>Answer questions only from 11 seminal GenAI papers, cite the three supporting passages by title and page, and say “I don’t know based on the provided papers.” when they do not cover it.</a:t>
            </a:r>
            <a:endParaRPr lang="en-US" sz="1500" dirty="0"/>
          </a:p>
        </p:txBody>
      </p:sp>
      <p:sp>
        <p:nvSpPr>
          <p:cNvPr id="11" name="badge-3"/>
          <p:cNvSpPr/>
          <p:nvPr/>
        </p:nvSpPr>
        <p:spPr>
          <a:xfrm>
            <a:off x="548640" y="4535424"/>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548640" y="453542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1115568" y="4517136"/>
            <a:ext cx="6382512" cy="329184"/>
          </a:xfrm>
          <a:prstGeom prst="rect">
            <a:avLst/>
          </a:prstGeom>
          <a:noFill/>
          <a:ln/>
        </p:spPr>
        <p:txBody>
          <a:bodyPr wrap="square" lIns="0" tIns="0" rIns="0" bIns="0" rtlCol="0" anchor="t"/>
          <a:lstStyle/>
          <a:p>
            <a:pPr indent="0" marL="0">
              <a:buNone/>
            </a:pPr>
            <a:r>
              <a:rPr lang="en-US" sz="1700" b="1" dirty="0">
                <a:solidFill>
                  <a:schemeClr val="tx1"/>
                </a:solidFill>
              </a:rPr>
              <a:t>Use case</a:t>
            </a:r>
            <a:endParaRPr lang="en-US" sz="1700" dirty="0"/>
          </a:p>
        </p:txBody>
      </p:sp>
      <p:sp>
        <p:nvSpPr>
          <p:cNvPr id="14" name="Text 12"/>
          <p:cNvSpPr txBox="1"/>
          <p:nvPr/>
        </p:nvSpPr>
        <p:spPr>
          <a:xfrm>
            <a:off x="1115568" y="4864608"/>
            <a:ext cx="6382512" cy="1152144"/>
          </a:xfrm>
          <a:prstGeom prst="rect">
            <a:avLst/>
          </a:prstGeom>
          <a:noFill/>
          <a:ln/>
        </p:spPr>
        <p:txBody>
          <a:bodyPr wrap="square" lIns="0" tIns="0" rIns="0" bIns="0" rtlCol="0" anchor="t"/>
          <a:lstStyle/>
          <a:p>
            <a:pPr indent="0" marL="0">
              <a:buNone/>
            </a:pPr>
            <a:r>
              <a:rPr lang="en-US" sz="1500" dirty="0">
                <a:solidFill>
                  <a:schemeClr val="tx1"/>
                </a:solidFill>
              </a:rPr>
              <a:t>Ask “How are the LoRA matrices A and B initialised?” and check the answer against page 4 of the LoRA paper in one click, without leaving the page.</a:t>
            </a:r>
            <a:endParaRPr lang="en-US" sz="1500" dirty="0"/>
          </a:p>
        </p:txBody>
      </p:sp>
      <p:sp>
        <p:nvSpPr>
          <p:cNvPr id="15" name="stats-panel"/>
          <p:cNvSpPr/>
          <p:nvPr/>
        </p:nvSpPr>
        <p:spPr>
          <a:xfrm>
            <a:off x="8092440" y="1463040"/>
            <a:ext cx="3547872" cy="4526280"/>
          </a:xfrm>
          <a:prstGeom prst="roundRect">
            <a:avLst>
              <a:gd name="adj" fmla="val 2062"/>
            </a:avLst>
          </a:prstGeom>
          <a:solidFill>
            <a:schemeClr val="bg2"/>
          </a:solidFill>
          <a:ln w="9525">
            <a:solidFill>
              <a:schemeClr val="accent5"/>
            </a:solidFill>
            <a:prstDash val="solid"/>
          </a:ln>
        </p:spPr>
      </p:sp>
      <p:sp>
        <p:nvSpPr>
          <p:cNvPr id="16" name="Text 14"/>
          <p:cNvSpPr txBox="1"/>
          <p:nvPr/>
        </p:nvSpPr>
        <p:spPr>
          <a:xfrm>
            <a:off x="8412480" y="1691640"/>
            <a:ext cx="30175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11</a:t>
            </a:r>
            <a:endParaRPr lang="en-US" sz="4000" dirty="0"/>
          </a:p>
        </p:txBody>
      </p:sp>
      <p:sp>
        <p:nvSpPr>
          <p:cNvPr id="17" name="Text 15"/>
          <p:cNvSpPr txBox="1"/>
          <p:nvPr/>
        </p:nvSpPr>
        <p:spPr>
          <a:xfrm>
            <a:off x="8412480" y="2377440"/>
            <a:ext cx="3017520" cy="502920"/>
          </a:xfrm>
          <a:prstGeom prst="rect">
            <a:avLst/>
          </a:prstGeom>
          <a:noFill/>
          <a:ln/>
        </p:spPr>
        <p:txBody>
          <a:bodyPr wrap="square" lIns="0" tIns="0" rIns="0" bIns="0" rtlCol="0" anchor="t"/>
          <a:lstStyle/>
          <a:p>
            <a:pPr indent="0" marL="0">
              <a:buNone/>
            </a:pPr>
            <a:r>
              <a:rPr lang="en-US" sz="1300" dirty="0">
                <a:solidFill>
                  <a:schemeClr val="accent4"/>
                </a:solidFill>
              </a:rPr>
              <a:t>seminal papers, 2017-2023: Transformer to Llama 2</a:t>
            </a:r>
            <a:endParaRPr lang="en-US" sz="1300" dirty="0"/>
          </a:p>
        </p:txBody>
      </p:sp>
      <p:sp>
        <p:nvSpPr>
          <p:cNvPr id="18" name="Text 16"/>
          <p:cNvSpPr txBox="1"/>
          <p:nvPr/>
        </p:nvSpPr>
        <p:spPr>
          <a:xfrm>
            <a:off x="8412480" y="3108960"/>
            <a:ext cx="30175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411</a:t>
            </a:r>
            <a:endParaRPr lang="en-US" sz="4000" dirty="0"/>
          </a:p>
        </p:txBody>
      </p:sp>
      <p:sp>
        <p:nvSpPr>
          <p:cNvPr id="19" name="Text 17"/>
          <p:cNvSpPr txBox="1"/>
          <p:nvPr/>
        </p:nvSpPr>
        <p:spPr>
          <a:xfrm>
            <a:off x="8412480" y="3794760"/>
            <a:ext cx="3017520" cy="502920"/>
          </a:xfrm>
          <a:prstGeom prst="rect">
            <a:avLst/>
          </a:prstGeom>
          <a:noFill/>
          <a:ln/>
        </p:spPr>
        <p:txBody>
          <a:bodyPr wrap="square" lIns="0" tIns="0" rIns="0" bIns="0" rtlCol="0" anchor="t"/>
          <a:lstStyle/>
          <a:p>
            <a:pPr indent="0" marL="0">
              <a:buNone/>
            </a:pPr>
            <a:r>
              <a:rPr lang="en-US" sz="1300" dirty="0">
                <a:solidFill>
                  <a:schemeClr val="accent4"/>
                </a:solidFill>
              </a:rPr>
              <a:t>pages, cleaned page by page</a:t>
            </a:r>
            <a:endParaRPr lang="en-US" sz="1300" dirty="0"/>
          </a:p>
        </p:txBody>
      </p:sp>
      <p:sp>
        <p:nvSpPr>
          <p:cNvPr id="20" name="Text 18"/>
          <p:cNvSpPr txBox="1"/>
          <p:nvPr/>
        </p:nvSpPr>
        <p:spPr>
          <a:xfrm>
            <a:off x="8412480" y="4526280"/>
            <a:ext cx="30175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766</a:t>
            </a:r>
            <a:endParaRPr lang="en-US" sz="4000" dirty="0"/>
          </a:p>
        </p:txBody>
      </p:sp>
      <p:sp>
        <p:nvSpPr>
          <p:cNvPr id="21" name="Text 19"/>
          <p:cNvSpPr txBox="1"/>
          <p:nvPr/>
        </p:nvSpPr>
        <p:spPr>
          <a:xfrm>
            <a:off x="8412480" y="5212080"/>
            <a:ext cx="3017520" cy="502920"/>
          </a:xfrm>
          <a:prstGeom prst="rect">
            <a:avLst/>
          </a:prstGeom>
          <a:noFill/>
          <a:ln/>
        </p:spPr>
        <p:txBody>
          <a:bodyPr wrap="square" lIns="0" tIns="0" rIns="0" bIns="0" rtlCol="0" anchor="t"/>
          <a:lstStyle/>
          <a:p>
            <a:pPr indent="0" marL="0">
              <a:buNone/>
            </a:pPr>
            <a:r>
              <a:rPr lang="en-US" sz="1300" dirty="0">
                <a:solidFill>
                  <a:schemeClr val="accent4"/>
                </a:solidFill>
              </a:rPr>
              <a:t>chunks of up to 512 tokens</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One pipeline from PDF to cited answer</a:t>
            </a:r>
            <a:endParaRPr lang="en-US" sz="3200" dirty="0"/>
          </a:p>
        </p:txBody>
      </p:sp>
      <p:pic>
        <p:nvPicPr>
          <p:cNvPr id="3" name="architecture-diagram" descr="Architecture: offline ingestion into ChromaDB and BM25; each question is rewritten (S1), searched with hybrid retrieval, reranked to 3, checked for weak context with an optional web fallback (S3), answered by llama3.1 and returned with 3 sources; used by the notebook, the Streamlit app and the FastAPI service with its Next.js app.">    </p:cNvPr>
          <p:cNvPicPr>
            <a:picLocks noChangeAspect="1"/>
          </p:cNvPicPr>
          <p:nvPr/>
        </p:nvPicPr>
        <p:blipFill>
          <a:blip r:embed="rId1"/>
          <a:stretch>
            <a:fillRect/>
          </a:stretch>
        </p:blipFill>
        <p:spPr>
          <a:xfrm>
            <a:off x="548640" y="1234440"/>
            <a:ext cx="7022592" cy="5093208"/>
          </a:xfrm>
          <a:prstGeom prst="rect">
            <a:avLst/>
          </a:prstGeom>
        </p:spPr>
      </p:pic>
      <p:sp>
        <p:nvSpPr>
          <p:cNvPr id="4" name="badge-1"/>
          <p:cNvSpPr/>
          <p:nvPr/>
        </p:nvSpPr>
        <p:spPr>
          <a:xfrm>
            <a:off x="7909560" y="1371600"/>
            <a:ext cx="384048" cy="384048"/>
          </a:xfrm>
          <a:prstGeom prst="ellipse">
            <a:avLst/>
          </a:prstGeom>
          <a:solidFill>
            <a:schemeClr val="accent1"/>
          </a:solidFill>
          <a:ln w="12700">
            <a:solidFill>
              <a:schemeClr val="accent1"/>
            </a:solidFill>
            <a:prstDash val="solid"/>
          </a:ln>
        </p:spPr>
      </p:sp>
      <p:sp>
        <p:nvSpPr>
          <p:cNvPr id="5" name="Text 2"/>
          <p:cNvSpPr txBox="1"/>
          <p:nvPr/>
        </p:nvSpPr>
        <p:spPr>
          <a:xfrm>
            <a:off x="7909560" y="137160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3"/>
          <p:cNvSpPr txBox="1"/>
          <p:nvPr/>
        </p:nvSpPr>
        <p:spPr>
          <a:xfrm>
            <a:off x="8476488" y="1353312"/>
            <a:ext cx="3163824" cy="329184"/>
          </a:xfrm>
          <a:prstGeom prst="rect">
            <a:avLst/>
          </a:prstGeom>
          <a:noFill/>
          <a:ln/>
        </p:spPr>
        <p:txBody>
          <a:bodyPr wrap="square" lIns="0" tIns="0" rIns="0" bIns="0" rtlCol="0" anchor="t"/>
          <a:lstStyle/>
          <a:p>
            <a:pPr indent="0" marL="0">
              <a:buNone/>
            </a:pPr>
            <a:r>
              <a:rPr lang="en-US" sz="1700" b="1" dirty="0">
                <a:solidFill>
                  <a:schemeClr val="tx1"/>
                </a:solidFill>
              </a:rPr>
              <a:t>Offline</a:t>
            </a:r>
            <a:endParaRPr lang="en-US" sz="1700" dirty="0"/>
          </a:p>
        </p:txBody>
      </p:sp>
      <p:sp>
        <p:nvSpPr>
          <p:cNvPr id="7" name="Text 4"/>
          <p:cNvSpPr txBox="1"/>
          <p:nvPr/>
        </p:nvSpPr>
        <p:spPr>
          <a:xfrm>
            <a:off x="8476488" y="1700784"/>
            <a:ext cx="3163824" cy="822960"/>
          </a:xfrm>
          <a:prstGeom prst="rect">
            <a:avLst/>
          </a:prstGeom>
          <a:noFill/>
          <a:ln/>
        </p:spPr>
        <p:txBody>
          <a:bodyPr wrap="square" lIns="0" tIns="0" rIns="0" bIns="0" rtlCol="0" anchor="t"/>
          <a:lstStyle/>
          <a:p>
            <a:pPr indent="0" marL="0">
              <a:buNone/>
            </a:pPr>
            <a:r>
              <a:rPr lang="en-US" sz="1400" dirty="0">
                <a:solidFill>
                  <a:schemeClr val="tx1"/>
                </a:solidFill>
              </a:rPr>
              <a:t>Load, clean and chunk 11 PDFs; embed with bge-m3 into ChromaDB; build a BM25 index.</a:t>
            </a:r>
            <a:endParaRPr lang="en-US" sz="1400" dirty="0"/>
          </a:p>
        </p:txBody>
      </p:sp>
      <p:sp>
        <p:nvSpPr>
          <p:cNvPr id="8" name="badge-2"/>
          <p:cNvSpPr/>
          <p:nvPr/>
        </p:nvSpPr>
        <p:spPr>
          <a:xfrm>
            <a:off x="7909560" y="2578608"/>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7909560" y="257860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7"/>
          <p:cNvSpPr txBox="1"/>
          <p:nvPr/>
        </p:nvSpPr>
        <p:spPr>
          <a:xfrm>
            <a:off x="8476488" y="2560320"/>
            <a:ext cx="3163824" cy="329184"/>
          </a:xfrm>
          <a:prstGeom prst="rect">
            <a:avLst/>
          </a:prstGeom>
          <a:noFill/>
          <a:ln/>
        </p:spPr>
        <p:txBody>
          <a:bodyPr wrap="square" lIns="0" tIns="0" rIns="0" bIns="0" rtlCol="0" anchor="t"/>
          <a:lstStyle/>
          <a:p>
            <a:pPr indent="0" marL="0">
              <a:buNone/>
            </a:pPr>
            <a:r>
              <a:rPr lang="en-US" sz="1700" b="1" dirty="0">
                <a:solidFill>
                  <a:schemeClr val="tx1"/>
                </a:solidFill>
              </a:rPr>
              <a:t>Each question</a:t>
            </a:r>
            <a:endParaRPr lang="en-US" sz="1700" dirty="0"/>
          </a:p>
        </p:txBody>
      </p:sp>
      <p:sp>
        <p:nvSpPr>
          <p:cNvPr id="11" name="Text 8"/>
          <p:cNvSpPr txBox="1"/>
          <p:nvPr/>
        </p:nvSpPr>
        <p:spPr>
          <a:xfrm>
            <a:off x="8476488" y="2907792"/>
            <a:ext cx="3163824" cy="822960"/>
          </a:xfrm>
          <a:prstGeom prst="rect">
            <a:avLst/>
          </a:prstGeom>
          <a:noFill/>
          <a:ln/>
        </p:spPr>
        <p:txBody>
          <a:bodyPr wrap="square" lIns="0" tIns="0" rIns="0" bIns="0" rtlCol="0" anchor="t"/>
          <a:lstStyle/>
          <a:p>
            <a:pPr indent="0" marL="0">
              <a:buNone/>
            </a:pPr>
            <a:r>
              <a:rPr lang="en-US" sz="1400" dirty="0">
                <a:solidFill>
                  <a:schemeClr val="tx1"/>
                </a:solidFill>
              </a:rPr>
              <a:t>Hybrid search, rerank 20 to 3, check for weak context, answer from the 3 numbered passages.</a:t>
            </a:r>
            <a:endParaRPr lang="en-US" sz="1400" dirty="0"/>
          </a:p>
        </p:txBody>
      </p:sp>
      <p:sp>
        <p:nvSpPr>
          <p:cNvPr id="12" name="badge-3"/>
          <p:cNvSpPr/>
          <p:nvPr/>
        </p:nvSpPr>
        <p:spPr>
          <a:xfrm>
            <a:off x="7909560" y="3785616"/>
            <a:ext cx="384048" cy="384048"/>
          </a:xfrm>
          <a:prstGeom prst="ellipse">
            <a:avLst/>
          </a:prstGeom>
          <a:solidFill>
            <a:schemeClr val="accent1"/>
          </a:solidFill>
          <a:ln w="12700">
            <a:solidFill>
              <a:schemeClr val="accent1"/>
            </a:solidFill>
            <a:prstDash val="solid"/>
          </a:ln>
        </p:spPr>
      </p:sp>
      <p:sp>
        <p:nvSpPr>
          <p:cNvPr id="13" name="Text 10"/>
          <p:cNvSpPr txBox="1"/>
          <p:nvPr/>
        </p:nvSpPr>
        <p:spPr>
          <a:xfrm>
            <a:off x="7909560" y="378561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1"/>
          <p:cNvSpPr txBox="1"/>
          <p:nvPr/>
        </p:nvSpPr>
        <p:spPr>
          <a:xfrm>
            <a:off x="8476488" y="3767328"/>
            <a:ext cx="3163824" cy="329184"/>
          </a:xfrm>
          <a:prstGeom prst="rect">
            <a:avLst/>
          </a:prstGeom>
          <a:noFill/>
          <a:ln/>
        </p:spPr>
        <p:txBody>
          <a:bodyPr wrap="square" lIns="0" tIns="0" rIns="0" bIns="0" rtlCol="0" anchor="t"/>
          <a:lstStyle/>
          <a:p>
            <a:pPr indent="0" marL="0">
              <a:buNone/>
            </a:pPr>
            <a:r>
              <a:rPr lang="en-US" sz="1700" b="1" dirty="0">
                <a:solidFill>
                  <a:schemeClr val="tx1"/>
                </a:solidFill>
              </a:rPr>
              <a:t>Guarantees</a:t>
            </a:r>
            <a:endParaRPr lang="en-US" sz="1700" dirty="0"/>
          </a:p>
        </p:txBody>
      </p:sp>
      <p:sp>
        <p:nvSpPr>
          <p:cNvPr id="15" name="Text 12"/>
          <p:cNvSpPr txBox="1"/>
          <p:nvPr/>
        </p:nvSpPr>
        <p:spPr>
          <a:xfrm>
            <a:off x="8476488" y="4114800"/>
            <a:ext cx="3163824" cy="822960"/>
          </a:xfrm>
          <a:prstGeom prst="rect">
            <a:avLst/>
          </a:prstGeom>
          <a:noFill/>
          <a:ln/>
        </p:spPr>
        <p:txBody>
          <a:bodyPr wrap="square" lIns="0" tIns="0" rIns="0" bIns="0" rtlCol="0" anchor="t"/>
          <a:lstStyle/>
          <a:p>
            <a:pPr indent="0" marL="0">
              <a:buNone/>
            </a:pPr>
            <a:r>
              <a:rPr lang="en-US" sz="1400" dirty="0">
                <a:solidFill>
                  <a:schemeClr val="tx1"/>
                </a:solidFill>
              </a:rPr>
              <a:t>Sources come from chunk metadata, never from the model’s text; wrong citation numbers are removed.</a:t>
            </a:r>
            <a:endParaRPr lang="en-US" sz="1400" dirty="0"/>
          </a:p>
        </p:txBody>
      </p:sp>
      <p:sp>
        <p:nvSpPr>
          <p:cNvPr id="16" name="badge-4"/>
          <p:cNvSpPr/>
          <p:nvPr/>
        </p:nvSpPr>
        <p:spPr>
          <a:xfrm>
            <a:off x="7909560" y="4992624"/>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909560" y="499262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5"/>
          <p:cNvSpPr txBox="1"/>
          <p:nvPr/>
        </p:nvSpPr>
        <p:spPr>
          <a:xfrm>
            <a:off x="8476488" y="4974336"/>
            <a:ext cx="3163824" cy="329184"/>
          </a:xfrm>
          <a:prstGeom prst="rect">
            <a:avLst/>
          </a:prstGeom>
          <a:noFill/>
          <a:ln/>
        </p:spPr>
        <p:txBody>
          <a:bodyPr wrap="square" lIns="0" tIns="0" rIns="0" bIns="0" rtlCol="0" anchor="t"/>
          <a:lstStyle/>
          <a:p>
            <a:pPr indent="0" marL="0">
              <a:buNone/>
            </a:pPr>
            <a:r>
              <a:rPr lang="en-US" sz="1700" b="1" dirty="0">
                <a:solidFill>
                  <a:schemeClr val="tx1"/>
                </a:solidFill>
              </a:rPr>
              <a:t>Entry points</a:t>
            </a:r>
            <a:endParaRPr lang="en-US" sz="1700" dirty="0"/>
          </a:p>
        </p:txBody>
      </p:sp>
      <p:sp>
        <p:nvSpPr>
          <p:cNvPr id="19" name="Text 16"/>
          <p:cNvSpPr txBox="1"/>
          <p:nvPr/>
        </p:nvSpPr>
        <p:spPr>
          <a:xfrm>
            <a:off x="8476488" y="5321808"/>
            <a:ext cx="3163824" cy="822960"/>
          </a:xfrm>
          <a:prstGeom prst="rect">
            <a:avLst/>
          </a:prstGeom>
          <a:noFill/>
          <a:ln/>
        </p:spPr>
        <p:txBody>
          <a:bodyPr wrap="square" lIns="0" tIns="0" rIns="0" bIns="0" rtlCol="0" anchor="t"/>
          <a:lstStyle/>
          <a:p>
            <a:pPr indent="0" marL="0">
              <a:buNone/>
            </a:pPr>
            <a:r>
              <a:rPr lang="en-US" sz="1400" dirty="0">
                <a:solidFill>
                  <a:schemeClr val="tx1"/>
                </a:solidFill>
              </a:rPr>
              <a:t>Notebook, Streamlit, and a FastAPI service with a Next.js app: one rpab package.</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11 papers, read and cleaned page by page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852160" cy="914400"/>
        </p:xfrm>
        <a:graphic>
          <a:graphicData uri="http://schemas.openxmlformats.org/drawingml/2006/table">
            <a:tbl>
              <a:tblPr/>
              <a:tblGrid>
                <a:gridCol w="3383280"/>
                <a:gridCol w="731520"/>
                <a:gridCol w="822960"/>
                <a:gridCol w="914400"/>
              </a:tblGrid>
              <a:tr h="32918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Paper</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2F3C9E"/>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2F3C9E"/>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Pages</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2F3C9E"/>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Chunks</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2F3C9E"/>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Attention Is All You Need</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BERT</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2018</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Dense Passage Retrieval</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2020</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GPT-3: Few-Shot Learners</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2020</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145</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Retrieval-Augmented Generation</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2020</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LoRA</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48</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Chain-of-Thought Prompting</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43</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77</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InstructGPT</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68</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109</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ReAct</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33</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69</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Llama 2</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77</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156</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A1D24"/>
                          </a:solidFill>
                          <a:latin typeface="Calibri" pitchFamily="34" charset="0"/>
                          <a:ea typeface="Calibri" pitchFamily="34" charset="-122"/>
                          <a:cs typeface="Calibri" pitchFamily="34" charset="-120"/>
                        </a:rPr>
                        <a:t>QLoRA</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c>
                  <a:txBody>
                    <a:bodyPr/>
                    <a:lstStyle/>
                    <a:p>
                      <a:pPr algn="r" indent="0" marL="0">
                        <a:buNone/>
                      </a:pPr>
                      <a:r>
                        <a:rPr lang="en-US" sz="1300" dirty="0">
                          <a:solidFill>
                            <a:srgbClr val="1A1D24"/>
                          </a:solidFill>
                          <a:latin typeface="Calibri" pitchFamily="34" charset="0"/>
                          <a:ea typeface="Calibri" pitchFamily="34" charset="-122"/>
                          <a:cs typeface="Calibri" pitchFamily="34" charset="-120"/>
                        </a:rPr>
                        <a:t>47</a:t>
                      </a:r>
                      <a:endParaRPr lang="en-US" sz="1300" dirty="0">
                        <a:latin typeface="Calibri" charset="0"/>
                        <a:ea typeface="Calibri" charset="0"/>
                        <a:cs typeface="Calibri" charset="0"/>
                      </a:endParaRPr>
                    </a:p>
                  </a:txBody>
                  <a:tcPr marL="91440" marR="91440" marT="27432" marB="27432">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ECEEF1"/>
                    </a:solidFill>
                  </a:tcPr>
                </a:tc>
              </a:tr>
            </a:tbl>
          </a:graphicData>
        </a:graphic>
      </p:graphicFrame>
      <p:sp>
        <p:nvSpPr>
          <p:cNvPr id="4" name="badge-1"/>
          <p:cNvSpPr/>
          <p:nvPr/>
        </p:nvSpPr>
        <p:spPr>
          <a:xfrm>
            <a:off x="6903720" y="1371600"/>
            <a:ext cx="384048" cy="384048"/>
          </a:xfrm>
          <a:prstGeom prst="ellipse">
            <a:avLst/>
          </a:prstGeom>
          <a:solidFill>
            <a:schemeClr val="accent1"/>
          </a:solidFill>
          <a:ln w="12700">
            <a:solidFill>
              <a:schemeClr val="accent1"/>
            </a:solidFill>
            <a:prstDash val="solid"/>
          </a:ln>
        </p:spPr>
      </p:sp>
      <p:sp>
        <p:nvSpPr>
          <p:cNvPr id="5" name="Text 2"/>
          <p:cNvSpPr txBox="1"/>
          <p:nvPr/>
        </p:nvSpPr>
        <p:spPr>
          <a:xfrm>
            <a:off x="6903720" y="137160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3"/>
          <p:cNvSpPr txBox="1"/>
          <p:nvPr/>
        </p:nvSpPr>
        <p:spPr>
          <a:xfrm>
            <a:off x="7470648" y="1353312"/>
            <a:ext cx="4169664" cy="329184"/>
          </a:xfrm>
          <a:prstGeom prst="rect">
            <a:avLst/>
          </a:prstGeom>
          <a:noFill/>
          <a:ln/>
        </p:spPr>
        <p:txBody>
          <a:bodyPr wrap="square" lIns="0" tIns="0" rIns="0" bIns="0" rtlCol="0" anchor="t"/>
          <a:lstStyle/>
          <a:p>
            <a:pPr indent="0" marL="0">
              <a:buNone/>
            </a:pPr>
            <a:r>
              <a:rPr lang="en-US" sz="1700" b="1" dirty="0">
                <a:solidFill>
                  <a:schemeClr val="tx1"/>
                </a:solidFill>
              </a:rPr>
              <a:t>PyPDF over pdfplumber</a:t>
            </a:r>
            <a:endParaRPr lang="en-US" sz="1700" dirty="0"/>
          </a:p>
        </p:txBody>
      </p:sp>
      <p:sp>
        <p:nvSpPr>
          <p:cNvPr id="7" name="Text 4"/>
          <p:cNvSpPr txBox="1"/>
          <p:nvPr/>
        </p:nvSpPr>
        <p:spPr>
          <a:xfrm>
            <a:off x="7470648" y="1700784"/>
            <a:ext cx="4169664" cy="822960"/>
          </a:xfrm>
          <a:prstGeom prst="rect">
            <a:avLst/>
          </a:prstGeom>
          <a:noFill/>
          <a:ln/>
        </p:spPr>
        <p:txBody>
          <a:bodyPr wrap="square" lIns="0" tIns="0" rIns="0" bIns="0" rtlCol="0" anchor="t"/>
          <a:lstStyle/>
          <a:p>
            <a:pPr indent="0" marL="0">
              <a:buNone/>
            </a:pPr>
            <a:r>
              <a:rPr lang="en-US" sz="1400" dirty="0">
                <a:solidFill>
                  <a:schemeClr val="tx1"/>
                </a:solidFill>
              </a:rPr>
              <a:t>Compared on all 11 papers: faster and more text, and its defects can be repaired.</a:t>
            </a:r>
            <a:endParaRPr lang="en-US" sz="1400" dirty="0"/>
          </a:p>
        </p:txBody>
      </p:sp>
      <p:sp>
        <p:nvSpPr>
          <p:cNvPr id="8" name="badge-2"/>
          <p:cNvSpPr/>
          <p:nvPr/>
        </p:nvSpPr>
        <p:spPr>
          <a:xfrm>
            <a:off x="6903720" y="2578608"/>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6903720" y="257860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7"/>
          <p:cNvSpPr txBox="1"/>
          <p:nvPr/>
        </p:nvSpPr>
        <p:spPr>
          <a:xfrm>
            <a:off x="7470648" y="2560320"/>
            <a:ext cx="4169664" cy="329184"/>
          </a:xfrm>
          <a:prstGeom prst="rect">
            <a:avLst/>
          </a:prstGeom>
          <a:noFill/>
          <a:ln/>
        </p:spPr>
        <p:txBody>
          <a:bodyPr wrap="square" lIns="0" tIns="0" rIns="0" bIns="0" rtlCol="0" anchor="t"/>
          <a:lstStyle/>
          <a:p>
            <a:pPr indent="0" marL="0">
              <a:buNone/>
            </a:pPr>
            <a:r>
              <a:rPr lang="en-US" sz="1700" b="1" dirty="0">
                <a:solidFill>
                  <a:schemeClr val="tx1"/>
                </a:solidFill>
              </a:rPr>
              <a:t>Six cleaning rules</a:t>
            </a:r>
            <a:endParaRPr lang="en-US" sz="1700" dirty="0"/>
          </a:p>
        </p:txBody>
      </p:sp>
      <p:sp>
        <p:nvSpPr>
          <p:cNvPr id="11" name="Text 8"/>
          <p:cNvSpPr txBox="1"/>
          <p:nvPr/>
        </p:nvSpPr>
        <p:spPr>
          <a:xfrm>
            <a:off x="7470648" y="2907792"/>
            <a:ext cx="4169664" cy="822960"/>
          </a:xfrm>
          <a:prstGeom prst="rect">
            <a:avLst/>
          </a:prstGeom>
          <a:noFill/>
          <a:ln/>
        </p:spPr>
        <p:txBody>
          <a:bodyPr wrap="square" lIns="0" tIns="0" rIns="0" bIns="0" rtlCol="0" anchor="t"/>
          <a:lstStyle/>
          <a:p>
            <a:pPr indent="0" marL="0">
              <a:buNone/>
            </a:pPr>
            <a:r>
              <a:rPr lang="en-US" sz="1400" dirty="0">
                <a:solidFill>
                  <a:schemeClr val="tx1"/>
                </a:solidFill>
              </a:rPr>
              <a:t>Ligatures, a shifted font encoding (ReAct), arXiv stamps, repeated headers and footers, hyphenation, whitespace.</a:t>
            </a:r>
            <a:endParaRPr lang="en-US" sz="1400" dirty="0"/>
          </a:p>
        </p:txBody>
      </p:sp>
      <p:sp>
        <p:nvSpPr>
          <p:cNvPr id="12" name="badge-3"/>
          <p:cNvSpPr/>
          <p:nvPr/>
        </p:nvSpPr>
        <p:spPr>
          <a:xfrm>
            <a:off x="6903720" y="3785616"/>
            <a:ext cx="384048" cy="384048"/>
          </a:xfrm>
          <a:prstGeom prst="ellipse">
            <a:avLst/>
          </a:prstGeom>
          <a:solidFill>
            <a:schemeClr val="accent1"/>
          </a:solidFill>
          <a:ln w="12700">
            <a:solidFill>
              <a:schemeClr val="accent1"/>
            </a:solidFill>
            <a:prstDash val="solid"/>
          </a:ln>
        </p:spPr>
      </p:sp>
      <p:sp>
        <p:nvSpPr>
          <p:cNvPr id="13" name="Text 10"/>
          <p:cNvSpPr txBox="1"/>
          <p:nvPr/>
        </p:nvSpPr>
        <p:spPr>
          <a:xfrm>
            <a:off x="6903720" y="378561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1"/>
          <p:cNvSpPr txBox="1"/>
          <p:nvPr/>
        </p:nvSpPr>
        <p:spPr>
          <a:xfrm>
            <a:off x="7470648" y="3767328"/>
            <a:ext cx="4169664" cy="329184"/>
          </a:xfrm>
          <a:prstGeom prst="rect">
            <a:avLst/>
          </a:prstGeom>
          <a:noFill/>
          <a:ln/>
        </p:spPr>
        <p:txBody>
          <a:bodyPr wrap="square" lIns="0" tIns="0" rIns="0" bIns="0" rtlCol="0" anchor="t"/>
          <a:lstStyle/>
          <a:p>
            <a:pPr indent="0" marL="0">
              <a:buNone/>
            </a:pPr>
            <a:r>
              <a:rPr lang="en-US" sz="1700" b="1" dirty="0">
                <a:solidFill>
                  <a:schemeClr val="tx1"/>
                </a:solidFill>
              </a:rPr>
              <a:t>No OCR needed</a:t>
            </a:r>
            <a:endParaRPr lang="en-US" sz="1700" dirty="0"/>
          </a:p>
        </p:txBody>
      </p:sp>
      <p:sp>
        <p:nvSpPr>
          <p:cNvPr id="15" name="Text 12"/>
          <p:cNvSpPr txBox="1"/>
          <p:nvPr/>
        </p:nvSpPr>
        <p:spPr>
          <a:xfrm>
            <a:off x="7470648" y="4114800"/>
            <a:ext cx="4169664" cy="822960"/>
          </a:xfrm>
          <a:prstGeom prst="rect">
            <a:avLst/>
          </a:prstGeom>
          <a:noFill/>
          <a:ln/>
        </p:spPr>
        <p:txBody>
          <a:bodyPr wrap="square" lIns="0" tIns="0" rIns="0" bIns="0" rtlCol="0" anchor="t"/>
          <a:lstStyle/>
          <a:p>
            <a:pPr indent="0" marL="0">
              <a:buNone/>
            </a:pPr>
            <a:r>
              <a:rPr lang="en-US" sz="1400" dirty="0">
                <a:solidFill>
                  <a:schemeClr val="tx1"/>
                </a:solidFill>
              </a:rPr>
              <a:t>No empty pages; the quality report would flag a scanned PDF added later.</a:t>
            </a:r>
            <a:endParaRPr lang="en-US" sz="1400" dirty="0"/>
          </a:p>
        </p:txBody>
      </p:sp>
      <p:sp>
        <p:nvSpPr>
          <p:cNvPr id="16" name="badge-4"/>
          <p:cNvSpPr/>
          <p:nvPr/>
        </p:nvSpPr>
        <p:spPr>
          <a:xfrm>
            <a:off x="6903720" y="4992624"/>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6903720" y="499262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5"/>
          <p:cNvSpPr txBox="1"/>
          <p:nvPr/>
        </p:nvSpPr>
        <p:spPr>
          <a:xfrm>
            <a:off x="7470648" y="4974336"/>
            <a:ext cx="4169664" cy="329184"/>
          </a:xfrm>
          <a:prstGeom prst="rect">
            <a:avLst/>
          </a:prstGeom>
          <a:noFill/>
          <a:ln/>
        </p:spPr>
        <p:txBody>
          <a:bodyPr wrap="square" lIns="0" tIns="0" rIns="0" bIns="0" rtlCol="0" anchor="t"/>
          <a:lstStyle/>
          <a:p>
            <a:pPr indent="0" marL="0">
              <a:buNone/>
            </a:pPr>
            <a:r>
              <a:rPr lang="en-US" sz="1700" b="1" dirty="0">
                <a:solidFill>
                  <a:schemeClr val="tx1"/>
                </a:solidFill>
              </a:rPr>
              <a:t>Evaluation set</a:t>
            </a:r>
            <a:endParaRPr lang="en-US" sz="1700" dirty="0"/>
          </a:p>
        </p:txBody>
      </p:sp>
      <p:sp>
        <p:nvSpPr>
          <p:cNvPr id="19" name="Text 16"/>
          <p:cNvSpPr txBox="1"/>
          <p:nvPr/>
        </p:nvSpPr>
        <p:spPr>
          <a:xfrm>
            <a:off x="7470648" y="5321808"/>
            <a:ext cx="4169664" cy="822960"/>
          </a:xfrm>
          <a:prstGeom prst="rect">
            <a:avLst/>
          </a:prstGeom>
          <a:noFill/>
          <a:ln/>
        </p:spPr>
        <p:txBody>
          <a:bodyPr wrap="square" lIns="0" tIns="0" rIns="0" bIns="0" rtlCol="0" anchor="t"/>
          <a:lstStyle/>
          <a:p>
            <a:pPr indent="0" marL="0">
              <a:buNone/>
            </a:pPr>
            <a:r>
              <a:rPr lang="en-US" sz="1400" dirty="0">
                <a:solidFill>
                  <a:schemeClr val="tx1"/>
                </a:solidFill>
              </a:rPr>
              <a:t>29 questions: 12 dev + 12 held-out answerable, 5 out of scope; gold pages audited.</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512-token chunks, without reference lists</a:t>
            </a:r>
            <a:endParaRPr lang="en-US" sz="3200" dirty="0"/>
          </a:p>
        </p:txBody>
      </p:sp>
      <p:graphicFrame>
        <p:nvGraphicFramePr>
          <p:cNvPr id="3" name="chunking-chart" descr=""/>
          <p:cNvGraphicFramePr/>
          <p:nvPr/>
        </p:nvGraphicFramePr>
        <p:xfrm>
          <a:off x="548640" y="1234440"/>
          <a:ext cx="6766560" cy="5029200"/>
        </p:xfrm>
        <a:graphic xmlns:a="http://schemas.openxmlformats.org/drawingml/2006/main">
          <a:graphicData uri="http://schemas.openxmlformats.org/drawingml/2006/chart">
            <c:chart xmlns:c="http://schemas.openxmlformats.org/drawingml/2006/chart" r:id="rId1"/>
          </a:graphicData>
        </a:graphic>
      </p:graphicFrame>
      <p:sp>
        <p:nvSpPr>
          <p:cNvPr id="4" name="chunking-panel"/>
          <p:cNvSpPr/>
          <p:nvPr/>
        </p:nvSpPr>
        <p:spPr>
          <a:xfrm>
            <a:off x="7680960" y="1325880"/>
            <a:ext cx="3959352" cy="4846320"/>
          </a:xfrm>
          <a:prstGeom prst="roundRect">
            <a:avLst>
              <a:gd name="adj" fmla="val 1848"/>
            </a:avLst>
          </a:prstGeom>
          <a:solidFill>
            <a:schemeClr val="bg1"/>
          </a:solidFill>
          <a:ln w="9525">
            <a:solidFill>
              <a:schemeClr val="accent5"/>
            </a:solidFill>
            <a:prstDash val="solid"/>
          </a:ln>
        </p:spPr>
      </p:sp>
      <p:sp>
        <p:nvSpPr>
          <p:cNvPr id="5" name="Text 2"/>
          <p:cNvSpPr txBox="1"/>
          <p:nvPr/>
        </p:nvSpPr>
        <p:spPr>
          <a:xfrm>
            <a:off x="7955280" y="1508760"/>
            <a:ext cx="34747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16</a:t>
            </a:r>
            <a:endParaRPr lang="en-US" sz="4000" dirty="0"/>
          </a:p>
        </p:txBody>
      </p:sp>
      <p:sp>
        <p:nvSpPr>
          <p:cNvPr id="6" name="Text 3"/>
          <p:cNvSpPr txBox="1"/>
          <p:nvPr/>
        </p:nvSpPr>
        <p:spPr>
          <a:xfrm>
            <a:off x="7955280" y="2194560"/>
            <a:ext cx="3474720" cy="502920"/>
          </a:xfrm>
          <a:prstGeom prst="rect">
            <a:avLst/>
          </a:prstGeom>
          <a:noFill/>
          <a:ln/>
        </p:spPr>
        <p:txBody>
          <a:bodyPr wrap="square" lIns="0" tIns="0" rIns="0" bIns="0" rtlCol="0" anchor="t"/>
          <a:lstStyle/>
          <a:p>
            <a:pPr indent="0" marL="0">
              <a:buNone/>
            </a:pPr>
            <a:r>
              <a:rPr lang="en-US" sz="1300" dirty="0">
                <a:solidFill>
                  <a:schemeClr val="accent4"/>
                </a:solidFill>
              </a:rPr>
              <a:t>chunking settings compared: fixed tokens, recursive characters, semantic; with and without reference lists</a:t>
            </a:r>
            <a:endParaRPr lang="en-US" sz="1300" dirty="0"/>
          </a:p>
        </p:txBody>
      </p:sp>
      <p:sp>
        <p:nvSpPr>
          <p:cNvPr id="7" name="Text 4"/>
          <p:cNvSpPr txBox="1"/>
          <p:nvPr/>
        </p:nvSpPr>
        <p:spPr>
          <a:xfrm>
            <a:off x="7955280" y="3154680"/>
            <a:ext cx="3474720" cy="28346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Chosen: fixed 512 tokens, no overlap, references dropped</a:t>
            </a:r>
            <a:endParaRPr lang="en-US" sz="1400" dirty="0"/>
          </a:p>
          <a:p>
            <a:pPr indent="0" marL="0">
              <a:spcAft>
                <a:spcPts val="400"/>
              </a:spcAft>
              <a:buNone/>
            </a:pPr>
            <a:r>
              <a:rPr lang="en-US" sz="1400" dirty="0">
                <a:solidFill>
                  <a:schemeClr val="tx1"/>
                </a:solidFill>
              </a:rPr>
              <a:t>hit@3 1.000 and MRR 0.917 on dev, with the fewest chunks (766) of the best group.</a:t>
            </a:r>
            <a:endParaRPr lang="en-US" sz="1400" dirty="0"/>
          </a:p>
          <a:p>
            <a:pPr indent="0" marL="0">
              <a:spcAft>
                <a:spcPts val="400"/>
              </a:spcAft>
              <a:buNone/>
            </a:pPr>
            <a:r>
              <a:rPr lang="en-US" sz="800" dirty="0">
                <a:solidFill>
                  <a:schemeClr val="tx1"/>
                </a:solidFill>
              </a:rPr>
              <a:t> </a:t>
            </a:r>
            <a:endParaRPr lang="en-US" sz="1400" dirty="0"/>
          </a:p>
          <a:p>
            <a:pPr indent="0" marL="0">
              <a:spcAft>
                <a:spcPts val="400"/>
              </a:spcAft>
              <a:buNone/>
            </a:pPr>
            <a:r>
              <a:rPr lang="en-US" sz="1400" b="1" dirty="0">
                <a:solidFill>
                  <a:schemeClr val="tx1"/>
                </a:solidFill>
              </a:rPr>
              <a:t>Why not the top MRR? </a:t>
            </a:r>
            <a:pPr indent="0" marL="0">
              <a:spcAft>
                <a:spcPts val="400"/>
              </a:spcAft>
              <a:buNone/>
            </a:pPr>
            <a:r>
              <a:rPr lang="en-US" sz="1400" dirty="0">
                <a:solidFill>
                  <a:schemeClr val="tx1"/>
                </a:solidFill>
              </a:rPr>
              <a:t>fixed 512/50 ranks one more question first; reranking closes that gap. No chunk exceeds 513 tokens, so three passages (about 1,200 tokens) fit the 8k context.</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bge-m3 matches Gemini, and runs on the laptop</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566160"/>
                <a:gridCol w="2331720"/>
                <a:gridCol w="2606040"/>
                <a:gridCol w="2587752"/>
              </a:tblGrid>
              <a:tr h="4754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Measure</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2F3C9E"/>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bge-m3 (open, local)</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2F3C9E"/>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gemini-embedding-001 (API)</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2F3C9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Note</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solidFill>
                      <a:srgbClr val="2F3C9E"/>
                    </a:solidFill>
                  </a:tcPr>
                </a:tc>
              </a:tr>
              <a:tr h="475488">
                <a:tc>
                  <a:txBody>
                    <a:bodyPr/>
                    <a:lstStyle/>
                    <a:p>
                      <a:pPr indent="0" marL="0">
                        <a:buNone/>
                      </a:pPr>
                      <a:r>
                        <a:rPr lang="en-US" sz="1500" b="1" dirty="0">
                          <a:solidFill>
                            <a:srgbClr val="1A1D24"/>
                          </a:solidFill>
                          <a:latin typeface="Calibri" pitchFamily="34" charset="0"/>
                          <a:ea typeface="Calibri" pitchFamily="34" charset="-122"/>
                          <a:cs typeface="Calibri" pitchFamily="34" charset="-120"/>
                        </a:rPr>
                        <a:t>Dense, dev: hit@3 / MRR</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1.000 / 0.917</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1.000 / 0.889</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indent="0" marL="0">
                        <a:buNone/>
                      </a:pPr>
                      <a:r>
                        <a:rPr lang="en-US" sz="1500" dirty="0">
                          <a:solidFill>
                            <a:srgbClr val="5B6272"/>
                          </a:solidFill>
                          <a:latin typeface="Calibri" pitchFamily="34" charset="0"/>
                          <a:ea typeface="Calibri" pitchFamily="34" charset="-122"/>
                          <a:cs typeface="Calibri" pitchFamily="34" charset="-120"/>
                        </a:rPr>
                        <a:t>level on recall</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r>
              <a:tr h="475488">
                <a:tc>
                  <a:txBody>
                    <a:bodyPr/>
                    <a:lstStyle/>
                    <a:p>
                      <a:pPr indent="0" marL="0">
                        <a:buNone/>
                      </a:pPr>
                      <a:r>
                        <a:rPr lang="en-US" sz="1500" b="1" dirty="0">
                          <a:solidFill>
                            <a:srgbClr val="1A1D24"/>
                          </a:solidFill>
                          <a:latin typeface="Calibri" pitchFamily="34" charset="0"/>
                          <a:ea typeface="Calibri" pitchFamily="34" charset="-122"/>
                          <a:cs typeface="Calibri" pitchFamily="34" charset="-120"/>
                        </a:rPr>
                        <a:t>Hybrid + rerank, held-out: hit@3 / MRR</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1.000 / 0.847</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1.000 / 0.889</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indent="0" marL="0">
                        <a:buNone/>
                      </a:pPr>
                      <a:r>
                        <a:rPr lang="en-US" sz="1500" dirty="0">
                          <a:solidFill>
                            <a:srgbClr val="5B6272"/>
                          </a:solidFill>
                          <a:latin typeface="Calibri" pitchFamily="34" charset="0"/>
                          <a:ea typeface="Calibri" pitchFamily="34" charset="-122"/>
                          <a:cs typeface="Calibri" pitchFamily="34" charset="-120"/>
                        </a:rPr>
                        <a:t>same top passages on dev</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r>
              <a:tr h="475488">
                <a:tc>
                  <a:txBody>
                    <a:bodyPr/>
                    <a:lstStyle/>
                    <a:p>
                      <a:pPr indent="0" marL="0">
                        <a:buNone/>
                      </a:pPr>
                      <a:r>
                        <a:rPr lang="en-US" sz="1500" b="1" dirty="0">
                          <a:solidFill>
                            <a:srgbClr val="1A1D24"/>
                          </a:solidFill>
                          <a:latin typeface="Calibri" pitchFamily="34" charset="0"/>
                          <a:ea typeface="Calibri" pitchFamily="34" charset="-122"/>
                          <a:cs typeface="Calibri" pitchFamily="34" charset="-120"/>
                        </a:rPr>
                        <a:t>Query embedding time</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27 ms</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474 ms</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indent="0" marL="0">
                        <a:buNone/>
                      </a:pPr>
                      <a:r>
                        <a:rPr lang="en-US" sz="1500" dirty="0">
                          <a:solidFill>
                            <a:srgbClr val="5B6272"/>
                          </a:solidFill>
                          <a:latin typeface="Calibri" pitchFamily="34" charset="0"/>
                          <a:ea typeface="Calibri" pitchFamily="34" charset="-122"/>
                          <a:cs typeface="Calibri" pitchFamily="34" charset="-120"/>
                        </a:rPr>
                        <a:t>network round trip</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r>
              <a:tr h="475488">
                <a:tc>
                  <a:txBody>
                    <a:bodyPr/>
                    <a:lstStyle/>
                    <a:p>
                      <a:pPr indent="0" marL="0">
                        <a:buNone/>
                      </a:pPr>
                      <a:r>
                        <a:rPr lang="en-US" sz="1500" b="1" dirty="0">
                          <a:solidFill>
                            <a:srgbClr val="1A1D24"/>
                          </a:solidFill>
                          <a:latin typeface="Calibri" pitchFamily="34" charset="0"/>
                          <a:ea typeface="Calibri" pitchFamily="34" charset="-122"/>
                          <a:cs typeface="Calibri" pitchFamily="34" charset="-120"/>
                        </a:rPr>
                        <a:t>Building the index (766 chunks)</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11 s</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882 s</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indent="0" marL="0">
                        <a:buNone/>
                      </a:pPr>
                      <a:r>
                        <a:rPr lang="en-US" sz="1500" dirty="0">
                          <a:solidFill>
                            <a:srgbClr val="5B6272"/>
                          </a:solidFill>
                          <a:latin typeface="Calibri" pitchFamily="34" charset="0"/>
                          <a:ea typeface="Calibri" pitchFamily="34" charset="-122"/>
                          <a:cs typeface="Calibri" pitchFamily="34" charset="-120"/>
                        </a:rPr>
                        <a:t>free-tier rate limit</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r>
              <a:tr h="475488">
                <a:tc>
                  <a:txBody>
                    <a:bodyPr/>
                    <a:lstStyle/>
                    <a:p>
                      <a:pPr indent="0" marL="0">
                        <a:buNone/>
                      </a:pPr>
                      <a:r>
                        <a:rPr lang="en-US" sz="1500" b="1" dirty="0">
                          <a:solidFill>
                            <a:srgbClr val="1A1D24"/>
                          </a:solidFill>
                          <a:latin typeface="Calibri" pitchFamily="34" charset="0"/>
                          <a:ea typeface="Calibri" pitchFamily="34" charset="-122"/>
                          <a:cs typeface="Calibri" pitchFamily="34" charset="-120"/>
                        </a:rPr>
                        <a:t>Cost</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$0.046</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indent="0" marL="0">
                        <a:buNone/>
                      </a:pPr>
                      <a:r>
                        <a:rPr lang="en-US" sz="1500" dirty="0">
                          <a:solidFill>
                            <a:srgbClr val="5B6272"/>
                          </a:solidFill>
                          <a:latin typeface="Calibri" pitchFamily="34" charset="0"/>
                          <a:ea typeface="Calibri" pitchFamily="34" charset="-122"/>
                          <a:cs typeface="Calibri" pitchFamily="34" charset="-120"/>
                        </a:rPr>
                        <a:t>free tier: 1,000 requests a day</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r>
              <a:tr h="475488">
                <a:tc>
                  <a:txBody>
                    <a:bodyPr/>
                    <a:lstStyle/>
                    <a:p>
                      <a:pPr indent="0" marL="0">
                        <a:buNone/>
                      </a:pPr>
                      <a:r>
                        <a:rPr lang="en-US" sz="1500" b="1" dirty="0">
                          <a:solidFill>
                            <a:srgbClr val="1A1D24"/>
                          </a:solidFill>
                          <a:latin typeface="Calibri" pitchFamily="34" charset="0"/>
                          <a:ea typeface="Calibri" pitchFamily="34" charset="-122"/>
                          <a:cs typeface="Calibri" pitchFamily="34" charset="-120"/>
                        </a:rPr>
                        <a:t>Works offline, data stays local</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algn="ctr" indent="0" marL="0">
                        <a:buNone/>
                      </a:pPr>
                      <a:r>
                        <a:rPr lang="en-US" sz="1500" dirty="0">
                          <a:solidFill>
                            <a:srgbClr val="1A1D24"/>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c>
                  <a:txBody>
                    <a:bodyPr/>
                    <a:lstStyle/>
                    <a:p>
                      <a:pPr indent="0" marL="0">
                        <a:buNone/>
                      </a:pPr>
                      <a:endParaRPr lang="en-US" sz="1500" dirty="0">
                        <a:latin typeface="Calibri" charset="0"/>
                        <a:ea typeface="Calibri" charset="0"/>
                        <a:cs typeface="Calibri" charset="0"/>
                      </a:endParaRPr>
                    </a:p>
                  </a:txBody>
                  <a:tcPr marL="109728" marR="109728" marT="45720" marB="45720">
                    <a:lnL w="6350" cap="flat" cmpd="sng" algn="ctr">
                      <a:solidFill>
                        <a:srgbClr val="C9CEDA"/>
                      </a:solidFill>
                      <a:prstDash val="solid"/>
                      <a:round/>
                      <a:headEnd type="none" w="med" len="med"/>
                      <a:tailEnd type="none" w="med" len="med"/>
                    </a:lnL>
                    <a:lnR w="6350" cap="flat" cmpd="sng" algn="ctr">
                      <a:solidFill>
                        <a:srgbClr val="C9CEDA"/>
                      </a:solidFill>
                      <a:prstDash val="solid"/>
                      <a:round/>
                      <a:headEnd type="none" w="med" len="med"/>
                      <a:tailEnd type="none" w="med" len="med"/>
                    </a:lnR>
                    <a:lnT w="6350" cap="flat" cmpd="sng" algn="ctr">
                      <a:solidFill>
                        <a:srgbClr val="C9CEDA"/>
                      </a:solidFill>
                      <a:prstDash val="solid"/>
                      <a:round/>
                      <a:headEnd type="none" w="med" len="med"/>
                      <a:tailEnd type="none" w="med" len="med"/>
                    </a:lnT>
                    <a:lnB w="6350" cap="flat" cmpd="sng" algn="ctr">
                      <a:solidFill>
                        <a:srgbClr val="C9CEDA"/>
                      </a:solidFill>
                      <a:prstDash val="solid"/>
                      <a:round/>
                      <a:headEnd type="none" w="med" len="med"/>
                      <a:tailEnd type="none" w="med" len="med"/>
                    </a:lnB>
                  </a:tcPr>
                </a:tc>
              </a:tr>
            </a:tbl>
          </a:graphicData>
        </a:graphic>
      </p:graphicFrame>
      <p:sp>
        <p:nvSpPr>
          <p:cNvPr id="4" name="decision-card"/>
          <p:cNvSpPr/>
          <p:nvPr/>
        </p:nvSpPr>
        <p:spPr>
          <a:xfrm>
            <a:off x="548640" y="4892040"/>
            <a:ext cx="11091672" cy="1234440"/>
          </a:xfrm>
          <a:prstGeom prst="roundRect">
            <a:avLst>
              <a:gd name="adj" fmla="val 5926"/>
            </a:avLst>
          </a:prstGeom>
          <a:solidFill>
            <a:schemeClr val="bg2"/>
          </a:solidFill>
          <a:ln w="9525">
            <a:solidFill>
              <a:schemeClr val="accent5"/>
            </a:solidFill>
            <a:prstDash val="solid"/>
          </a:ln>
        </p:spPr>
      </p:sp>
      <p:sp>
        <p:nvSpPr>
          <p:cNvPr id="5" name="decision-badge"/>
          <p:cNvSpPr/>
          <p:nvPr/>
        </p:nvSpPr>
        <p:spPr>
          <a:xfrm>
            <a:off x="777240" y="51663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77240" y="51663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7" name="Text 4"/>
          <p:cNvSpPr txBox="1"/>
          <p:nvPr/>
        </p:nvSpPr>
        <p:spPr>
          <a:xfrm>
            <a:off x="1463040" y="5047488"/>
            <a:ext cx="9966960" cy="960120"/>
          </a:xfrm>
          <a:prstGeom prst="rect">
            <a:avLst/>
          </a:prstGeom>
          <a:noFill/>
          <a:ln/>
        </p:spPr>
        <p:txBody>
          <a:bodyPr wrap="square" lIns="0" tIns="0" rIns="0" bIns="0" rtlCol="0" anchor="t"/>
          <a:lstStyle/>
          <a:p>
            <a:pPr indent="0" marL="0">
              <a:buNone/>
            </a:pPr>
            <a:r>
              <a:rPr lang="en-US" sz="1500" b="1" dirty="0">
                <a:solidFill>
                  <a:schemeClr val="tx1"/>
                </a:solidFill>
              </a:rPr>
              <a:t>Decision: bge-m3. </a:t>
            </a:r>
            <a:pPr indent="0" marL="0">
              <a:buNone/>
            </a:pPr>
            <a:r>
              <a:rPr lang="en-US" sz="1500" dirty="0">
                <a:solidFill>
                  <a:schemeClr val="tx1"/>
                </a:solidFill>
              </a:rPr>
              <a:t>After reranking, both models return the same top passages for every dev question. That leaves latency, privacy and the API quota, which ran out during the strategy sweeps, and all three favour the local model. Gemini stays indexed and selectable.</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Hybrid search plus a reranker finds every gold page</a:t>
            </a:r>
            <a:endParaRPr lang="en-US" sz="3200" dirty="0"/>
          </a:p>
        </p:txBody>
      </p:sp>
      <p:graphicFrame>
        <p:nvGraphicFramePr>
          <p:cNvPr id="3" name="retrieval-chart" descr=""/>
          <p:cNvGraphicFramePr/>
          <p:nvPr/>
        </p:nvGraphicFramePr>
        <p:xfrm>
          <a:off x="548640" y="1234440"/>
          <a:ext cx="6949440" cy="4983480"/>
        </p:xfrm>
        <a:graphic xmlns:a="http://schemas.openxmlformats.org/drawingml/2006/main">
          <a:graphicData uri="http://schemas.openxmlformats.org/drawingml/2006/chart">
            <c:chart xmlns:c="http://schemas.openxmlformats.org/drawingml/2006/chart" r:id="rId1"/>
          </a:graphicData>
        </a:graphic>
      </p:graphicFrame>
      <p:sp>
        <p:nvSpPr>
          <p:cNvPr id="4" name="badge-1"/>
          <p:cNvSpPr/>
          <p:nvPr/>
        </p:nvSpPr>
        <p:spPr>
          <a:xfrm>
            <a:off x="7863840" y="1371600"/>
            <a:ext cx="384048" cy="384048"/>
          </a:xfrm>
          <a:prstGeom prst="ellipse">
            <a:avLst/>
          </a:prstGeom>
          <a:solidFill>
            <a:schemeClr val="accent1"/>
          </a:solidFill>
          <a:ln w="12700">
            <a:solidFill>
              <a:schemeClr val="accent1"/>
            </a:solidFill>
            <a:prstDash val="solid"/>
          </a:ln>
        </p:spPr>
      </p:sp>
      <p:sp>
        <p:nvSpPr>
          <p:cNvPr id="5" name="Text 2"/>
          <p:cNvSpPr txBox="1"/>
          <p:nvPr/>
        </p:nvSpPr>
        <p:spPr>
          <a:xfrm>
            <a:off x="7863840" y="137160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3"/>
          <p:cNvSpPr txBox="1"/>
          <p:nvPr/>
        </p:nvSpPr>
        <p:spPr>
          <a:xfrm>
            <a:off x="8430768" y="1353312"/>
            <a:ext cx="3209544" cy="329184"/>
          </a:xfrm>
          <a:prstGeom prst="rect">
            <a:avLst/>
          </a:prstGeom>
          <a:noFill/>
          <a:ln/>
        </p:spPr>
        <p:txBody>
          <a:bodyPr wrap="square" lIns="0" tIns="0" rIns="0" bIns="0" rtlCol="0" anchor="t"/>
          <a:lstStyle/>
          <a:p>
            <a:pPr indent="0" marL="0">
              <a:buNone/>
            </a:pPr>
            <a:r>
              <a:rPr lang="en-US" sz="1700" b="1" dirty="0">
                <a:solidFill>
                  <a:schemeClr val="tx1"/>
                </a:solidFill>
              </a:rPr>
              <a:t>ChromaDB, cosine</a:t>
            </a:r>
            <a:endParaRPr lang="en-US" sz="1700" dirty="0"/>
          </a:p>
        </p:txBody>
      </p:sp>
      <p:sp>
        <p:nvSpPr>
          <p:cNvPr id="7" name="Text 4"/>
          <p:cNvSpPr txBox="1"/>
          <p:nvPr/>
        </p:nvSpPr>
        <p:spPr>
          <a:xfrm>
            <a:off x="8430768" y="1700784"/>
            <a:ext cx="3209544" cy="822960"/>
          </a:xfrm>
          <a:prstGeom prst="rect">
            <a:avLst/>
          </a:prstGeom>
          <a:noFill/>
          <a:ln/>
        </p:spPr>
        <p:txBody>
          <a:bodyPr wrap="square" lIns="0" tIns="0" rIns="0" bIns="0" rtlCol="0" anchor="t"/>
          <a:lstStyle/>
          <a:p>
            <a:pPr indent="0" marL="0">
              <a:buNone/>
            </a:pPr>
            <a:r>
              <a:rPr lang="en-US" sz="1400" dirty="0">
                <a:solidFill>
                  <a:schemeClr val="tx1"/>
                </a:solidFill>
              </a:rPr>
              <a:t>One persistent collection per embedding model and chunking, so vectors never mix.</a:t>
            </a:r>
            <a:endParaRPr lang="en-US" sz="1400" dirty="0"/>
          </a:p>
        </p:txBody>
      </p:sp>
      <p:sp>
        <p:nvSpPr>
          <p:cNvPr id="8" name="badge-2"/>
          <p:cNvSpPr/>
          <p:nvPr/>
        </p:nvSpPr>
        <p:spPr>
          <a:xfrm>
            <a:off x="7863840" y="2578608"/>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7863840" y="257860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7"/>
          <p:cNvSpPr txBox="1"/>
          <p:nvPr/>
        </p:nvSpPr>
        <p:spPr>
          <a:xfrm>
            <a:off x="8430768" y="2560320"/>
            <a:ext cx="3209544" cy="329184"/>
          </a:xfrm>
          <a:prstGeom prst="rect">
            <a:avLst/>
          </a:prstGeom>
          <a:noFill/>
          <a:ln/>
        </p:spPr>
        <p:txBody>
          <a:bodyPr wrap="square" lIns="0" tIns="0" rIns="0" bIns="0" rtlCol="0" anchor="t"/>
          <a:lstStyle/>
          <a:p>
            <a:pPr indent="0" marL="0">
              <a:buNone/>
            </a:pPr>
            <a:r>
              <a:rPr lang="en-US" sz="1700" b="1" dirty="0">
                <a:solidFill>
                  <a:schemeClr val="tx1"/>
                </a:solidFill>
              </a:rPr>
              <a:t>Hybrid: dense + BM25</a:t>
            </a:r>
            <a:endParaRPr lang="en-US" sz="1700" dirty="0"/>
          </a:p>
        </p:txBody>
      </p:sp>
      <p:sp>
        <p:nvSpPr>
          <p:cNvPr id="11" name="Text 8"/>
          <p:cNvSpPr txBox="1"/>
          <p:nvPr/>
        </p:nvSpPr>
        <p:spPr>
          <a:xfrm>
            <a:off x="8430768" y="2907792"/>
            <a:ext cx="3209544" cy="822960"/>
          </a:xfrm>
          <a:prstGeom prst="rect">
            <a:avLst/>
          </a:prstGeom>
          <a:noFill/>
          <a:ln/>
        </p:spPr>
        <p:txBody>
          <a:bodyPr wrap="square" lIns="0" tIns="0" rIns="0" bIns="0" rtlCol="0" anchor="t"/>
          <a:lstStyle/>
          <a:p>
            <a:pPr indent="0" marL="0">
              <a:buNone/>
            </a:pPr>
            <a:r>
              <a:rPr lang="en-US" sz="1400" dirty="0">
                <a:solidFill>
                  <a:schemeClr val="tx1"/>
                </a:solidFill>
              </a:rPr>
              <a:t>Fused by reciprocal rank fusion (weight 0.5). Dense, MMR, BM25 and multi-query also compared.</a:t>
            </a:r>
            <a:endParaRPr lang="en-US" sz="1400" dirty="0"/>
          </a:p>
        </p:txBody>
      </p:sp>
      <p:sp>
        <p:nvSpPr>
          <p:cNvPr id="12" name="badge-3"/>
          <p:cNvSpPr/>
          <p:nvPr/>
        </p:nvSpPr>
        <p:spPr>
          <a:xfrm>
            <a:off x="7863840" y="3785616"/>
            <a:ext cx="384048" cy="384048"/>
          </a:xfrm>
          <a:prstGeom prst="ellipse">
            <a:avLst/>
          </a:prstGeom>
          <a:solidFill>
            <a:schemeClr val="accent1"/>
          </a:solidFill>
          <a:ln w="12700">
            <a:solidFill>
              <a:schemeClr val="accent1"/>
            </a:solidFill>
            <a:prstDash val="solid"/>
          </a:ln>
        </p:spPr>
      </p:sp>
      <p:sp>
        <p:nvSpPr>
          <p:cNvPr id="13" name="Text 10"/>
          <p:cNvSpPr txBox="1"/>
          <p:nvPr/>
        </p:nvSpPr>
        <p:spPr>
          <a:xfrm>
            <a:off x="7863840" y="378561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1"/>
          <p:cNvSpPr txBox="1"/>
          <p:nvPr/>
        </p:nvSpPr>
        <p:spPr>
          <a:xfrm>
            <a:off x="8430768" y="3767328"/>
            <a:ext cx="3209544" cy="329184"/>
          </a:xfrm>
          <a:prstGeom prst="rect">
            <a:avLst/>
          </a:prstGeom>
          <a:noFill/>
          <a:ln/>
        </p:spPr>
        <p:txBody>
          <a:bodyPr wrap="square" lIns="0" tIns="0" rIns="0" bIns="0" rtlCol="0" anchor="t"/>
          <a:lstStyle/>
          <a:p>
            <a:pPr indent="0" marL="0">
              <a:buNone/>
            </a:pPr>
            <a:r>
              <a:rPr lang="en-US" sz="1700" b="1" dirty="0">
                <a:solidFill>
                  <a:schemeClr val="tx1"/>
                </a:solidFill>
              </a:rPr>
              <a:t>Rerank 20 to 3</a:t>
            </a:r>
            <a:endParaRPr lang="en-US" sz="1700" dirty="0"/>
          </a:p>
        </p:txBody>
      </p:sp>
      <p:sp>
        <p:nvSpPr>
          <p:cNvPr id="15" name="Text 12"/>
          <p:cNvSpPr txBox="1"/>
          <p:nvPr/>
        </p:nvSpPr>
        <p:spPr>
          <a:xfrm>
            <a:off x="8430768" y="4114800"/>
            <a:ext cx="3209544" cy="822960"/>
          </a:xfrm>
          <a:prstGeom prst="rect">
            <a:avLst/>
          </a:prstGeom>
          <a:noFill/>
          <a:ln/>
        </p:spPr>
        <p:txBody>
          <a:bodyPr wrap="square" lIns="0" tIns="0" rIns="0" bIns="0" rtlCol="0" anchor="t"/>
          <a:lstStyle/>
          <a:p>
            <a:pPr indent="0" marL="0">
              <a:buNone/>
            </a:pPr>
            <a:r>
              <a:rPr lang="en-US" sz="1400" dirty="0">
                <a:solidFill>
                  <a:schemeClr val="tx1"/>
                </a:solidFill>
              </a:rPr>
              <a:t>bge-reranker-v2-m3 adds 0.4 s. Multi-query matched it on dev but took 5 s per question.</a:t>
            </a:r>
            <a:endParaRPr lang="en-US" sz="1400" dirty="0"/>
          </a:p>
        </p:txBody>
      </p:sp>
      <p:sp>
        <p:nvSpPr>
          <p:cNvPr id="16" name="badge-4"/>
          <p:cNvSpPr/>
          <p:nvPr/>
        </p:nvSpPr>
        <p:spPr>
          <a:xfrm>
            <a:off x="7863840" y="4992624"/>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863840" y="499262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5"/>
          <p:cNvSpPr txBox="1"/>
          <p:nvPr/>
        </p:nvSpPr>
        <p:spPr>
          <a:xfrm>
            <a:off x="8430768" y="4974336"/>
            <a:ext cx="3209544" cy="329184"/>
          </a:xfrm>
          <a:prstGeom prst="rect">
            <a:avLst/>
          </a:prstGeom>
          <a:noFill/>
          <a:ln/>
        </p:spPr>
        <p:txBody>
          <a:bodyPr wrap="square" lIns="0" tIns="0" rIns="0" bIns="0" rtlCol="0" anchor="t"/>
          <a:lstStyle/>
          <a:p>
            <a:pPr indent="0" marL="0">
              <a:buNone/>
            </a:pPr>
            <a:r>
              <a:rPr lang="en-US" sz="1700" b="1" dirty="0">
                <a:solidFill>
                  <a:schemeClr val="tx1"/>
                </a:solidFill>
              </a:rPr>
              <a:t>Weak-context score</a:t>
            </a:r>
            <a:endParaRPr lang="en-US" sz="1700" dirty="0"/>
          </a:p>
        </p:txBody>
      </p:sp>
      <p:sp>
        <p:nvSpPr>
          <p:cNvPr id="19" name="Text 16"/>
          <p:cNvSpPr txBox="1"/>
          <p:nvPr/>
        </p:nvSpPr>
        <p:spPr>
          <a:xfrm>
            <a:off x="8430768" y="5321808"/>
            <a:ext cx="3209544" cy="822960"/>
          </a:xfrm>
          <a:prstGeom prst="rect">
            <a:avLst/>
          </a:prstGeom>
          <a:noFill/>
          <a:ln/>
        </p:spPr>
        <p:txBody>
          <a:bodyPr wrap="square" lIns="0" tIns="0" rIns="0" bIns="0" rtlCol="0" anchor="t"/>
          <a:lstStyle/>
          <a:p>
            <a:pPr indent="0" marL="0">
              <a:buNone/>
            </a:pPr>
            <a:r>
              <a:rPr lang="en-US" sz="1400" dirty="0">
                <a:solidFill>
                  <a:schemeClr val="tx1"/>
                </a:solidFill>
              </a:rPr>
              <a:t>Top rerank score below 0.72 means the papers probably lack the answer: it split dev perfectly.</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A cite-or-refuse chain in LangChain LCEL</a:t>
            </a:r>
            <a:endParaRPr lang="en-US" sz="3200" dirty="0"/>
          </a:p>
        </p:txBody>
      </p:sp>
      <p:sp>
        <p:nvSpPr>
          <p:cNvPr id="3" name="badge-1"/>
          <p:cNvSpPr/>
          <p:nvPr/>
        </p:nvSpPr>
        <p:spPr>
          <a:xfrm>
            <a:off x="548640" y="137160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3"/>
          <p:cNvSpPr txBox="1"/>
          <p:nvPr/>
        </p:nvSpPr>
        <p:spPr>
          <a:xfrm>
            <a:off x="1115568" y="1353312"/>
            <a:ext cx="5193792" cy="329184"/>
          </a:xfrm>
          <a:prstGeom prst="rect">
            <a:avLst/>
          </a:prstGeom>
          <a:noFill/>
          <a:ln/>
        </p:spPr>
        <p:txBody>
          <a:bodyPr wrap="square" lIns="0" tIns="0" rIns="0" bIns="0" rtlCol="0" anchor="t"/>
          <a:lstStyle/>
          <a:p>
            <a:pPr indent="0" marL="0">
              <a:buNone/>
            </a:pPr>
            <a:r>
              <a:rPr lang="en-US" sz="1700" b="1" dirty="0">
                <a:solidFill>
                  <a:schemeClr val="tx1"/>
                </a:solidFill>
              </a:rPr>
              <a:t>Retrieve</a:t>
            </a:r>
            <a:endParaRPr lang="en-US" sz="1700" dirty="0"/>
          </a:p>
        </p:txBody>
      </p:sp>
      <p:sp>
        <p:nvSpPr>
          <p:cNvPr id="6" name="Text 4"/>
          <p:cNvSpPr txBox="1"/>
          <p:nvPr/>
        </p:nvSpPr>
        <p:spPr>
          <a:xfrm>
            <a:off x="1115568" y="1700784"/>
            <a:ext cx="5193792" cy="804672"/>
          </a:xfrm>
          <a:prstGeom prst="rect">
            <a:avLst/>
          </a:prstGeom>
          <a:noFill/>
          <a:ln/>
        </p:spPr>
        <p:txBody>
          <a:bodyPr wrap="square" lIns="0" tIns="0" rIns="0" bIns="0" rtlCol="0" anchor="t"/>
          <a:lstStyle/>
          <a:p>
            <a:pPr indent="0" marL="0">
              <a:buNone/>
            </a:pPr>
            <a:r>
              <a:rPr lang="en-US" sz="1400" dirty="0">
                <a:solidFill>
                  <a:schemeClr val="tx1"/>
                </a:solidFill>
              </a:rPr>
              <a:t>The chosen strategy with an optional paper filter; 3 passages with title, page and scores.</a:t>
            </a:r>
            <a:endParaRPr lang="en-US" sz="1400" dirty="0"/>
          </a:p>
        </p:txBody>
      </p:sp>
      <p:sp>
        <p:nvSpPr>
          <p:cNvPr id="7" name="badge-2"/>
          <p:cNvSpPr/>
          <p:nvPr/>
        </p:nvSpPr>
        <p:spPr>
          <a:xfrm>
            <a:off x="548640" y="256032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548640" y="25603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1115568" y="2542032"/>
            <a:ext cx="5193792" cy="329184"/>
          </a:xfrm>
          <a:prstGeom prst="rect">
            <a:avLst/>
          </a:prstGeom>
          <a:noFill/>
          <a:ln/>
        </p:spPr>
        <p:txBody>
          <a:bodyPr wrap="square" lIns="0" tIns="0" rIns="0" bIns="0" rtlCol="0" anchor="t"/>
          <a:lstStyle/>
          <a:p>
            <a:pPr indent="0" marL="0">
              <a:buNone/>
            </a:pPr>
            <a:r>
              <a:rPr lang="en-US" sz="1700" b="1" dirty="0">
                <a:solidFill>
                  <a:schemeClr val="tx1"/>
                </a:solidFill>
              </a:rPr>
              <a:t>Prompt</a:t>
            </a:r>
            <a:endParaRPr lang="en-US" sz="1700" dirty="0"/>
          </a:p>
        </p:txBody>
      </p:sp>
      <p:sp>
        <p:nvSpPr>
          <p:cNvPr id="10" name="Text 8"/>
          <p:cNvSpPr txBox="1"/>
          <p:nvPr/>
        </p:nvSpPr>
        <p:spPr>
          <a:xfrm>
            <a:off x="1115568" y="2889504"/>
            <a:ext cx="5193792" cy="804672"/>
          </a:xfrm>
          <a:prstGeom prst="rect">
            <a:avLst/>
          </a:prstGeom>
          <a:noFill/>
          <a:ln/>
        </p:spPr>
        <p:txBody>
          <a:bodyPr wrap="square" lIns="0" tIns="0" rIns="0" bIns="0" rtlCol="0" anchor="t"/>
          <a:lstStyle/>
          <a:p>
            <a:pPr indent="0" marL="0">
              <a:buNone/>
            </a:pPr>
            <a:r>
              <a:rPr lang="en-US" sz="1400" dirty="0">
                <a:solidFill>
                  <a:schemeClr val="tx1"/>
                </a:solidFill>
              </a:rPr>
              <a:t>Numbered passages [1]-[3] with title and page, the rules, two few-shot turns from a made-up paper, and a notice when the context is weak.</a:t>
            </a:r>
            <a:endParaRPr lang="en-US" sz="1400" dirty="0"/>
          </a:p>
        </p:txBody>
      </p:sp>
      <p:sp>
        <p:nvSpPr>
          <p:cNvPr id="11" name="badge-3"/>
          <p:cNvSpPr/>
          <p:nvPr/>
        </p:nvSpPr>
        <p:spPr>
          <a:xfrm>
            <a:off x="548640" y="374904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548640" y="37490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1115568" y="3730752"/>
            <a:ext cx="5193792" cy="329184"/>
          </a:xfrm>
          <a:prstGeom prst="rect">
            <a:avLst/>
          </a:prstGeom>
          <a:noFill/>
          <a:ln/>
        </p:spPr>
        <p:txBody>
          <a:bodyPr wrap="square" lIns="0" tIns="0" rIns="0" bIns="0" rtlCol="0" anchor="t"/>
          <a:lstStyle/>
          <a:p>
            <a:pPr indent="0" marL="0">
              <a:buNone/>
            </a:pPr>
            <a:r>
              <a:rPr lang="en-US" sz="1700" b="1" dirty="0">
                <a:solidFill>
                  <a:schemeClr val="tx1"/>
                </a:solidFill>
              </a:rPr>
              <a:t>Generate</a:t>
            </a:r>
            <a:endParaRPr lang="en-US" sz="1700" dirty="0"/>
          </a:p>
        </p:txBody>
      </p:sp>
      <p:sp>
        <p:nvSpPr>
          <p:cNvPr id="14" name="Text 12"/>
          <p:cNvSpPr txBox="1"/>
          <p:nvPr/>
        </p:nvSpPr>
        <p:spPr>
          <a:xfrm>
            <a:off x="1115568" y="4078224"/>
            <a:ext cx="5193792" cy="804672"/>
          </a:xfrm>
          <a:prstGeom prst="rect">
            <a:avLst/>
          </a:prstGeom>
          <a:noFill/>
          <a:ln/>
        </p:spPr>
        <p:txBody>
          <a:bodyPr wrap="square" lIns="0" tIns="0" rIns="0" bIns="0" rtlCol="0" anchor="t"/>
          <a:lstStyle/>
          <a:p>
            <a:pPr indent="0" marL="0">
              <a:buNone/>
            </a:pPr>
            <a:r>
              <a:rPr lang="en-US" sz="1400" dirty="0">
                <a:solidFill>
                  <a:schemeClr val="tx1"/>
                </a:solidFill>
              </a:rPr>
              <a:t>llama3.1 8B through Ollama: temperature 0, 8k context, streamed token by token.</a:t>
            </a:r>
            <a:endParaRPr lang="en-US" sz="1400" dirty="0"/>
          </a:p>
        </p:txBody>
      </p:sp>
      <p:sp>
        <p:nvSpPr>
          <p:cNvPr id="15" name="badge-4"/>
          <p:cNvSpPr/>
          <p:nvPr/>
        </p:nvSpPr>
        <p:spPr>
          <a:xfrm>
            <a:off x="548640" y="4937760"/>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548640" y="493776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 15"/>
          <p:cNvSpPr txBox="1"/>
          <p:nvPr/>
        </p:nvSpPr>
        <p:spPr>
          <a:xfrm>
            <a:off x="1115568" y="4919472"/>
            <a:ext cx="5193792" cy="329184"/>
          </a:xfrm>
          <a:prstGeom prst="rect">
            <a:avLst/>
          </a:prstGeom>
          <a:noFill/>
          <a:ln/>
        </p:spPr>
        <p:txBody>
          <a:bodyPr wrap="square" lIns="0" tIns="0" rIns="0" bIns="0" rtlCol="0" anchor="t"/>
          <a:lstStyle/>
          <a:p>
            <a:pPr indent="0" marL="0">
              <a:buNone/>
            </a:pPr>
            <a:r>
              <a:rPr lang="en-US" sz="1700" b="1" dirty="0">
                <a:solidFill>
                  <a:schemeClr val="tx1"/>
                </a:solidFill>
              </a:rPr>
              <a:t>Guard</a:t>
            </a:r>
            <a:endParaRPr lang="en-US" sz="1700" dirty="0"/>
          </a:p>
        </p:txBody>
      </p:sp>
      <p:sp>
        <p:nvSpPr>
          <p:cNvPr id="18" name="Text 16"/>
          <p:cNvSpPr txBox="1"/>
          <p:nvPr/>
        </p:nvSpPr>
        <p:spPr>
          <a:xfrm>
            <a:off x="1115568" y="5266944"/>
            <a:ext cx="5193792" cy="804672"/>
          </a:xfrm>
          <a:prstGeom prst="rect">
            <a:avLst/>
          </a:prstGeom>
          <a:noFill/>
          <a:ln/>
        </p:spPr>
        <p:txBody>
          <a:bodyPr wrap="square" lIns="0" tIns="0" rIns="0" bIns="0" rtlCol="0" anchor="t"/>
          <a:lstStyle/>
          <a:p>
            <a:pPr indent="0" marL="0">
              <a:buNone/>
            </a:pPr>
            <a:r>
              <a:rPr lang="en-US" sz="1400" dirty="0">
                <a:solidFill>
                  <a:schemeClr val="tx1"/>
                </a:solidFill>
              </a:rPr>
              <a:t>Citation numbers outside 1-3 removed even mid-stream; refusals normalised to the exact sentence; sources from metadata.</a:t>
            </a:r>
            <a:endParaRPr lang="en-US" sz="1400" dirty="0"/>
          </a:p>
        </p:txBody>
      </p:sp>
      <p:sp>
        <p:nvSpPr>
          <p:cNvPr id="19" name="prompt-card"/>
          <p:cNvSpPr/>
          <p:nvPr/>
        </p:nvSpPr>
        <p:spPr>
          <a:xfrm>
            <a:off x="6675120" y="1325880"/>
            <a:ext cx="4965192" cy="4846320"/>
          </a:xfrm>
          <a:prstGeom prst="roundRect">
            <a:avLst>
              <a:gd name="adj" fmla="val 1509"/>
            </a:avLst>
          </a:prstGeom>
          <a:solidFill>
            <a:schemeClr val="bg2"/>
          </a:solidFill>
          <a:ln w="9525">
            <a:solidFill>
              <a:schemeClr val="accent5"/>
            </a:solidFill>
            <a:prstDash val="solid"/>
          </a:ln>
        </p:spPr>
      </p:sp>
      <p:sp>
        <p:nvSpPr>
          <p:cNvPr id="20" name="Text 18"/>
          <p:cNvSpPr txBox="1"/>
          <p:nvPr/>
        </p:nvSpPr>
        <p:spPr>
          <a:xfrm>
            <a:off x="6949440" y="1508760"/>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System prompt rules (excerpt)</a:t>
            </a:r>
            <a:endParaRPr lang="en-US" sz="1500" dirty="0"/>
          </a:p>
        </p:txBody>
      </p:sp>
      <p:sp>
        <p:nvSpPr>
          <p:cNvPr id="21" name="Text 19"/>
          <p:cNvSpPr txBox="1"/>
          <p:nvPr/>
        </p:nvSpPr>
        <p:spPr>
          <a:xfrm>
            <a:off x="6949440" y="1965960"/>
            <a:ext cx="4434840" cy="3017520"/>
          </a:xfrm>
          <a:prstGeom prst="rect">
            <a:avLst/>
          </a:prstGeom>
          <a:noFill/>
          <a:ln/>
        </p:spPr>
        <p:txBody>
          <a:bodyPr wrap="square" lIns="0" tIns="0" rIns="0" bIns="0" rtlCol="0" anchor="t"/>
          <a:lstStyle/>
          <a:p>
            <a:pPr indent="0" marL="0">
              <a:spcAft>
                <a:spcPts val="800"/>
              </a:spcAft>
              <a:buNone/>
            </a:pPr>
            <a:r>
              <a:rPr lang="en-US" sz="1300" dirty="0">
                <a:solidFill>
                  <a:schemeClr val="tx1"/>
                </a:solidFill>
                <a:latin typeface="Courier New" pitchFamily="34" charset="0"/>
                <a:ea typeface="Courier New" pitchFamily="34" charset="-122"/>
                <a:cs typeface="Courier New" pitchFamily="34" charset="-120"/>
              </a:rPr>
              <a:t>1. Answer ONLY using the numbered context passages.</a:t>
            </a:r>
            <a:endParaRPr lang="en-US" sz="1300" dirty="0"/>
          </a:p>
          <a:p>
            <a:pPr indent="0" marL="0">
              <a:spcAft>
                <a:spcPts val="800"/>
              </a:spcAft>
              <a:buNone/>
            </a:pPr>
            <a:r>
              <a:rPr lang="en-US" sz="1300" dirty="0">
                <a:solidFill>
                  <a:schemeClr val="tx1"/>
                </a:solidFill>
                <a:latin typeface="Courier New" pitchFamily="34" charset="0"/>
                <a:ea typeface="Courier New" pitchFamily="34" charset="-122"/>
                <a:cs typeface="Courier New" pitchFamily="34" charset="-120"/>
              </a:rPr>
              <a:t>2. If they do not contain enough information, reply exactly: “I don’t know based on the provided papers.”</a:t>
            </a:r>
            <a:endParaRPr lang="en-US" sz="1300" dirty="0"/>
          </a:p>
          <a:p>
            <a:pPr indent="0" marL="0">
              <a:spcAft>
                <a:spcPts val="800"/>
              </a:spcAft>
              <a:buNone/>
            </a:pPr>
            <a:r>
              <a:rPr lang="en-US" sz="1300" dirty="0">
                <a:solidFill>
                  <a:schemeClr val="tx1"/>
                </a:solidFill>
                <a:latin typeface="Courier New" pitchFamily="34" charset="0"/>
                <a:ea typeface="Courier New" pitchFamily="34" charset="-122"/>
                <a:cs typeface="Courier New" pitchFamily="34" charset="-120"/>
              </a:rPr>
              <a:t>3. Cite sources inline as [1], [2], [3]. Every sentence that states a fact ends with its citation.</a:t>
            </a:r>
            <a:endParaRPr lang="en-US" sz="1300" dirty="0"/>
          </a:p>
          <a:p>
            <a:pPr indent="0" marL="0">
              <a:spcAft>
                <a:spcPts val="800"/>
              </a:spcAft>
              <a:buNone/>
            </a:pPr>
            <a:r>
              <a:rPr lang="en-US" sz="1300" dirty="0">
                <a:solidFill>
                  <a:schemeClr val="tx1"/>
                </a:solidFill>
                <a:latin typeface="Courier New" pitchFamily="34" charset="0"/>
                <a:ea typeface="Courier New" pitchFamily="34" charset="-122"/>
                <a:cs typeface="Courier New" pitchFamily="34" charset="-120"/>
              </a:rPr>
              <a:t>4. Do not use outside knowledge. Do not invent paper titles, page numbers or results.</a:t>
            </a:r>
            <a:endParaRPr lang="en-US" sz="1300" dirty="0"/>
          </a:p>
          <a:p>
            <a:pPr indent="0" marL="0">
              <a:spcAft>
                <a:spcPts val="800"/>
              </a:spcAft>
              <a:buNone/>
            </a:pPr>
            <a:r>
              <a:rPr lang="en-US" sz="1300" dirty="0">
                <a:solidFill>
                  <a:schemeClr val="tx1"/>
                </a:solidFill>
                <a:latin typeface="Courier New" pitchFamily="34" charset="0"/>
                <a:ea typeface="Courier New" pitchFamily="34" charset="-122"/>
                <a:cs typeface="Courier New" pitchFamily="34" charset="-120"/>
              </a:rPr>
              <a:t>5. Be concise and precise.</a:t>
            </a:r>
            <a:endParaRPr lang="en-US" sz="1300" dirty="0"/>
          </a:p>
        </p:txBody>
      </p:sp>
      <p:sp>
        <p:nvSpPr>
          <p:cNvPr id="22" name="Text 20"/>
          <p:cNvSpPr txBox="1"/>
          <p:nvPr/>
        </p:nvSpPr>
        <p:spPr>
          <a:xfrm>
            <a:off x="6949440" y="5120640"/>
            <a:ext cx="4434840" cy="868680"/>
          </a:xfrm>
          <a:prstGeom prst="rect">
            <a:avLst/>
          </a:prstGeom>
          <a:noFill/>
          <a:ln/>
        </p:spPr>
        <p:txBody>
          <a:bodyPr wrap="square" lIns="0" tIns="0" rIns="0" bIns="0" rtlCol="0" anchor="t"/>
          <a:lstStyle/>
          <a:p>
            <a:pPr indent="0" marL="0">
              <a:buNone/>
            </a:pPr>
            <a:r>
              <a:rPr lang="en-US" sz="1400" i="1" dirty="0">
                <a:solidFill>
                  <a:schemeClr val="accent4"/>
                </a:solidFill>
              </a:rPr>
              <a:t>The weak-context notice raised refusals of out-of-scope questions from 2 of 5 to 5 of 5, with no answerable question refused.</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Grounded answers, and refusals when it counts</a:t>
            </a:r>
            <a:endParaRPr lang="en-US" sz="3200" dirty="0"/>
          </a:p>
        </p:txBody>
      </p:sp>
      <p:sp>
        <p:nvSpPr>
          <p:cNvPr id="3" name="stat-card-1"/>
          <p:cNvSpPr/>
          <p:nvPr/>
        </p:nvSpPr>
        <p:spPr>
          <a:xfrm>
            <a:off x="548640" y="1325880"/>
            <a:ext cx="2633472" cy="1600200"/>
          </a:xfrm>
          <a:prstGeom prst="roundRect">
            <a:avLst>
              <a:gd name="adj" fmla="val 4571"/>
            </a:avLst>
          </a:prstGeom>
          <a:solidFill>
            <a:schemeClr val="bg1"/>
          </a:solidFill>
          <a:ln w="9525">
            <a:solidFill>
              <a:schemeClr val="accent5"/>
            </a:solidFill>
            <a:prstDash val="solid"/>
          </a:ln>
        </p:spPr>
      </p:sp>
      <p:sp>
        <p:nvSpPr>
          <p:cNvPr id="4" name="Text 2"/>
          <p:cNvSpPr txBox="1"/>
          <p:nvPr/>
        </p:nvSpPr>
        <p:spPr>
          <a:xfrm>
            <a:off x="777240" y="1463040"/>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4.93</a:t>
            </a:r>
            <a:endParaRPr lang="en-US" sz="4000" dirty="0"/>
          </a:p>
        </p:txBody>
      </p:sp>
      <p:sp>
        <p:nvSpPr>
          <p:cNvPr id="5" name="Text 3"/>
          <p:cNvSpPr txBox="1"/>
          <p:nvPr/>
        </p:nvSpPr>
        <p:spPr>
          <a:xfrm>
            <a:off x="777240" y="2148840"/>
            <a:ext cx="2286000" cy="502920"/>
          </a:xfrm>
          <a:prstGeom prst="rect">
            <a:avLst/>
          </a:prstGeom>
          <a:noFill/>
          <a:ln/>
        </p:spPr>
        <p:txBody>
          <a:bodyPr wrap="square" lIns="0" tIns="0" rIns="0" bIns="0" rtlCol="0" anchor="t"/>
          <a:lstStyle/>
          <a:p>
            <a:pPr indent="0" marL="0">
              <a:buNone/>
            </a:pPr>
            <a:r>
              <a:rPr lang="en-US" sz="1300" dirty="0">
                <a:solidFill>
                  <a:schemeClr val="accent4"/>
                </a:solidFill>
              </a:rPr>
              <a:t>relevance</a:t>
            </a:r>
            <a:endParaRPr lang="en-US" sz="1300" dirty="0"/>
          </a:p>
        </p:txBody>
      </p:sp>
      <p:sp>
        <p:nvSpPr>
          <p:cNvPr id="6" name="stat-card-2"/>
          <p:cNvSpPr/>
          <p:nvPr/>
        </p:nvSpPr>
        <p:spPr>
          <a:xfrm>
            <a:off x="3364992" y="1325880"/>
            <a:ext cx="2633472" cy="1600200"/>
          </a:xfrm>
          <a:prstGeom prst="roundRect">
            <a:avLst>
              <a:gd name="adj" fmla="val 4571"/>
            </a:avLst>
          </a:prstGeom>
          <a:solidFill>
            <a:schemeClr val="bg1"/>
          </a:solidFill>
          <a:ln w="9525">
            <a:solidFill>
              <a:schemeClr val="accent5"/>
            </a:solidFill>
            <a:prstDash val="solid"/>
          </a:ln>
        </p:spPr>
      </p:sp>
      <p:sp>
        <p:nvSpPr>
          <p:cNvPr id="7" name="Text 5"/>
          <p:cNvSpPr txBox="1"/>
          <p:nvPr/>
        </p:nvSpPr>
        <p:spPr>
          <a:xfrm>
            <a:off x="3593592" y="1463040"/>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4.36</a:t>
            </a:r>
            <a:endParaRPr lang="en-US" sz="4000" dirty="0"/>
          </a:p>
        </p:txBody>
      </p:sp>
      <p:sp>
        <p:nvSpPr>
          <p:cNvPr id="8" name="Text 6"/>
          <p:cNvSpPr txBox="1"/>
          <p:nvPr/>
        </p:nvSpPr>
        <p:spPr>
          <a:xfrm>
            <a:off x="3593592" y="2148840"/>
            <a:ext cx="2286000" cy="502920"/>
          </a:xfrm>
          <a:prstGeom prst="rect">
            <a:avLst/>
          </a:prstGeom>
          <a:noFill/>
          <a:ln/>
        </p:spPr>
        <p:txBody>
          <a:bodyPr wrap="square" lIns="0" tIns="0" rIns="0" bIns="0" rtlCol="0" anchor="t"/>
          <a:lstStyle/>
          <a:p>
            <a:pPr indent="0" marL="0">
              <a:buNone/>
            </a:pPr>
            <a:r>
              <a:rPr lang="en-US" sz="1300" dirty="0">
                <a:solidFill>
                  <a:schemeClr val="accent4"/>
                </a:solidFill>
              </a:rPr>
              <a:t>accuracy</a:t>
            </a:r>
            <a:endParaRPr lang="en-US" sz="1300" dirty="0"/>
          </a:p>
        </p:txBody>
      </p:sp>
      <p:sp>
        <p:nvSpPr>
          <p:cNvPr id="9" name="stat-card-3"/>
          <p:cNvSpPr/>
          <p:nvPr/>
        </p:nvSpPr>
        <p:spPr>
          <a:xfrm>
            <a:off x="6181344" y="1325880"/>
            <a:ext cx="2633472" cy="1600200"/>
          </a:xfrm>
          <a:prstGeom prst="roundRect">
            <a:avLst>
              <a:gd name="adj" fmla="val 4571"/>
            </a:avLst>
          </a:prstGeom>
          <a:solidFill>
            <a:schemeClr val="bg1"/>
          </a:solidFill>
          <a:ln w="9525">
            <a:solidFill>
              <a:schemeClr val="accent5"/>
            </a:solidFill>
            <a:prstDash val="solid"/>
          </a:ln>
        </p:spPr>
      </p:sp>
      <p:sp>
        <p:nvSpPr>
          <p:cNvPr id="10" name="Text 8"/>
          <p:cNvSpPr txBox="1"/>
          <p:nvPr/>
        </p:nvSpPr>
        <p:spPr>
          <a:xfrm>
            <a:off x="6409944" y="1463040"/>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4.64</a:t>
            </a:r>
            <a:endParaRPr lang="en-US" sz="4000" dirty="0"/>
          </a:p>
        </p:txBody>
      </p:sp>
      <p:sp>
        <p:nvSpPr>
          <p:cNvPr id="11" name="Text 9"/>
          <p:cNvSpPr txBox="1"/>
          <p:nvPr/>
        </p:nvSpPr>
        <p:spPr>
          <a:xfrm>
            <a:off x="6409944" y="2148840"/>
            <a:ext cx="2286000" cy="502920"/>
          </a:xfrm>
          <a:prstGeom prst="rect">
            <a:avLst/>
          </a:prstGeom>
          <a:noFill/>
          <a:ln/>
        </p:spPr>
        <p:txBody>
          <a:bodyPr wrap="square" lIns="0" tIns="0" rIns="0" bIns="0" rtlCol="0" anchor="t"/>
          <a:lstStyle/>
          <a:p>
            <a:pPr indent="0" marL="0">
              <a:buNone/>
            </a:pPr>
            <a:r>
              <a:rPr lang="en-US" sz="1300" dirty="0">
                <a:solidFill>
                  <a:schemeClr val="accent4"/>
                </a:solidFill>
              </a:rPr>
              <a:t>groundedness</a:t>
            </a:r>
            <a:endParaRPr lang="en-US" sz="1300" dirty="0"/>
          </a:p>
        </p:txBody>
      </p:sp>
      <p:sp>
        <p:nvSpPr>
          <p:cNvPr id="12" name="stat-card-4"/>
          <p:cNvSpPr/>
          <p:nvPr/>
        </p:nvSpPr>
        <p:spPr>
          <a:xfrm>
            <a:off x="8997696" y="1325880"/>
            <a:ext cx="2633472" cy="1600200"/>
          </a:xfrm>
          <a:prstGeom prst="roundRect">
            <a:avLst>
              <a:gd name="adj" fmla="val 4571"/>
            </a:avLst>
          </a:prstGeom>
          <a:solidFill>
            <a:schemeClr val="bg1"/>
          </a:solidFill>
          <a:ln w="9525">
            <a:solidFill>
              <a:schemeClr val="accent5"/>
            </a:solidFill>
            <a:prstDash val="solid"/>
          </a:ln>
        </p:spPr>
      </p:sp>
      <p:sp>
        <p:nvSpPr>
          <p:cNvPr id="13" name="Text 11"/>
          <p:cNvSpPr txBox="1"/>
          <p:nvPr/>
        </p:nvSpPr>
        <p:spPr>
          <a:xfrm>
            <a:off x="9226296" y="1463040"/>
            <a:ext cx="228600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2 / 14</a:t>
            </a:r>
            <a:endParaRPr lang="en-US" sz="4000" dirty="0"/>
          </a:p>
        </p:txBody>
      </p:sp>
      <p:sp>
        <p:nvSpPr>
          <p:cNvPr id="14" name="Text 12"/>
          <p:cNvSpPr txBox="1"/>
          <p:nvPr/>
        </p:nvSpPr>
        <p:spPr>
          <a:xfrm>
            <a:off x="9226296" y="2148840"/>
            <a:ext cx="2286000" cy="502920"/>
          </a:xfrm>
          <a:prstGeom prst="rect">
            <a:avLst/>
          </a:prstGeom>
          <a:noFill/>
          <a:ln/>
        </p:spPr>
        <p:txBody>
          <a:bodyPr wrap="square" lIns="0" tIns="0" rIns="0" bIns="0" rtlCol="0" anchor="t"/>
          <a:lstStyle/>
          <a:p>
            <a:pPr indent="0" marL="0">
              <a:buNone/>
            </a:pPr>
            <a:r>
              <a:rPr lang="en-US" sz="1300" dirty="0">
                <a:solidFill>
                  <a:schemeClr val="accent4"/>
                </a:solidFill>
              </a:rPr>
              <a:t>answers with an unsupported claim</a:t>
            </a:r>
            <a:endParaRPr lang="en-US" sz="1300" dirty="0"/>
          </a:p>
        </p:txBody>
      </p:sp>
      <p:sp>
        <p:nvSpPr>
          <p:cNvPr id="15" name="Text 13"/>
          <p:cNvSpPr txBox="1"/>
          <p:nvPr/>
        </p:nvSpPr>
        <p:spPr>
          <a:xfrm>
            <a:off x="548640" y="3035808"/>
            <a:ext cx="11091672" cy="320040"/>
          </a:xfrm>
          <a:prstGeom prst="rect">
            <a:avLst/>
          </a:prstGeom>
          <a:noFill/>
          <a:ln/>
        </p:spPr>
        <p:txBody>
          <a:bodyPr wrap="square" lIns="0" tIns="0" rIns="0" bIns="0" rtlCol="0" anchor="t"/>
          <a:lstStyle/>
          <a:p>
            <a:pPr indent="0" marL="0">
              <a:buNone/>
            </a:pPr>
            <a:r>
              <a:rPr lang="en-US" sz="1300" dirty="0">
                <a:solidFill>
                  <a:schemeClr val="accent4"/>
                </a:solidFill>
              </a:rPr>
              <a:t>Manual scores, 1 to 5, on the 14 held-out questions (12 answerable, 2 out of scope), llama3.1 8B</a:t>
            </a:r>
            <a:endParaRPr lang="en-US" sz="1300" dirty="0"/>
          </a:p>
        </p:txBody>
      </p:sp>
      <p:sp>
        <p:nvSpPr>
          <p:cNvPr id="16" name="refusal-card"/>
          <p:cNvSpPr/>
          <p:nvPr/>
        </p:nvSpPr>
        <p:spPr>
          <a:xfrm>
            <a:off x="548640" y="3520440"/>
            <a:ext cx="3566160" cy="2240280"/>
          </a:xfrm>
          <a:prstGeom prst="roundRect">
            <a:avLst>
              <a:gd name="adj" fmla="val 3265"/>
            </a:avLst>
          </a:prstGeom>
          <a:solidFill>
            <a:schemeClr val="bg1"/>
          </a:solidFill>
          <a:ln w="9525">
            <a:solidFill>
              <a:schemeClr val="accent5"/>
            </a:solidFill>
            <a:prstDash val="solid"/>
          </a:ln>
        </p:spPr>
      </p:sp>
      <p:sp>
        <p:nvSpPr>
          <p:cNvPr id="17" name="Text 15"/>
          <p:cNvSpPr txBox="1"/>
          <p:nvPr/>
        </p:nvSpPr>
        <p:spPr>
          <a:xfrm>
            <a:off x="777240" y="3703320"/>
            <a:ext cx="3154680" cy="1920240"/>
          </a:xfrm>
          <a:prstGeom prst="rect">
            <a:avLst/>
          </a:prstGeom>
          <a:noFill/>
          <a:ln/>
        </p:spPr>
        <p:txBody>
          <a:bodyPr wrap="square" lIns="0" tIns="0" rIns="0" bIns="0" rtlCol="0" anchor="t"/>
          <a:lstStyle/>
          <a:p>
            <a:pPr indent="0" marL="0">
              <a:buNone/>
            </a:pPr>
            <a:r>
              <a:rPr lang="en-US" sz="1800" b="1" dirty="0">
                <a:solidFill>
                  <a:schemeClr val="tx1"/>
                </a:solidFill>
              </a:rPr>
              <a:t>Refusals</a:t>
            </a:r>
            <a:endParaRPr lang="en-US" sz="1600" dirty="0"/>
          </a:p>
          <a:p>
            <a:pPr indent="0" marL="0">
              <a:buNone/>
            </a:pPr>
            <a:r>
              <a:rPr lang="en-US" sz="1600" dirty="0">
                <a:solidFill>
                  <a:schemeClr val="tx1"/>
                </a:solidFill>
              </a:rPr>
              <a:t>Both held-out out-of-scope questions refused with the exact sentence (5 of 5 overall), and no answerable question refused. The closest passages are still shown.</a:t>
            </a:r>
            <a:endParaRPr lang="en-US" sz="1600" dirty="0"/>
          </a:p>
        </p:txBody>
      </p:sp>
      <p:sp>
        <p:nvSpPr>
          <p:cNvPr id="18" name="failure-card"/>
          <p:cNvSpPr/>
          <p:nvPr/>
        </p:nvSpPr>
        <p:spPr>
          <a:xfrm>
            <a:off x="4315968" y="3520440"/>
            <a:ext cx="3566160" cy="2240280"/>
          </a:xfrm>
          <a:prstGeom prst="roundRect">
            <a:avLst>
              <a:gd name="adj" fmla="val 3265"/>
            </a:avLst>
          </a:prstGeom>
          <a:solidFill>
            <a:schemeClr val="bg1"/>
          </a:solidFill>
          <a:ln w="9525">
            <a:solidFill>
              <a:schemeClr val="accent5"/>
            </a:solidFill>
            <a:prstDash val="solid"/>
          </a:ln>
        </p:spPr>
      </p:sp>
      <p:sp>
        <p:nvSpPr>
          <p:cNvPr id="19" name="Text 17"/>
          <p:cNvSpPr txBox="1"/>
          <p:nvPr/>
        </p:nvSpPr>
        <p:spPr>
          <a:xfrm>
            <a:off x="4544568" y="3703320"/>
            <a:ext cx="3154680" cy="1920240"/>
          </a:xfrm>
          <a:prstGeom prst="rect">
            <a:avLst/>
          </a:prstGeom>
          <a:noFill/>
          <a:ln/>
        </p:spPr>
        <p:txBody>
          <a:bodyPr wrap="square" lIns="0" tIns="0" rIns="0" bIns="0" rtlCol="0" anchor="t"/>
          <a:lstStyle/>
          <a:p>
            <a:pPr indent="0" marL="0">
              <a:buNone/>
            </a:pPr>
            <a:r>
              <a:rPr lang="en-US" sz="1800" b="1" dirty="0">
                <a:solidFill>
                  <a:schemeClr val="tx1"/>
                </a:solidFill>
              </a:rPr>
              <a:t>Typical error</a:t>
            </a:r>
            <a:endParaRPr lang="en-US" sz="1600" dirty="0"/>
          </a:p>
          <a:p>
            <a:pPr indent="0" marL="0">
              <a:buNone/>
            </a:pPr>
            <a:r>
              <a:rPr lang="en-US" sz="1600" dirty="0">
                <a:solidFill>
                  <a:schemeClr val="tx1"/>
                </a:solidFill>
              </a:rPr>
              <a:t>A neighbouring number from the right passage (5 answers), e.g. DPR’s WebQuestions accuracy given as its Natural Questions result. One retrieval miss: Llama 2’s 2T tokens.</a:t>
            </a:r>
            <a:endParaRPr lang="en-US" sz="1600" dirty="0"/>
          </a:p>
        </p:txBody>
      </p:sp>
      <p:sp>
        <p:nvSpPr>
          <p:cNvPr id="20" name="judge-card"/>
          <p:cNvSpPr/>
          <p:nvPr/>
        </p:nvSpPr>
        <p:spPr>
          <a:xfrm>
            <a:off x="8074152" y="3520440"/>
            <a:ext cx="3566160" cy="2240280"/>
          </a:xfrm>
          <a:prstGeom prst="roundRect">
            <a:avLst>
              <a:gd name="adj" fmla="val 3265"/>
            </a:avLst>
          </a:prstGeom>
          <a:solidFill>
            <a:schemeClr val="bg1"/>
          </a:solidFill>
          <a:ln w="9525">
            <a:solidFill>
              <a:schemeClr val="accent5"/>
            </a:solidFill>
            <a:prstDash val="solid"/>
          </a:ln>
        </p:spPr>
      </p:sp>
      <p:sp>
        <p:nvSpPr>
          <p:cNvPr id="21" name="Text 19"/>
          <p:cNvSpPr txBox="1"/>
          <p:nvPr/>
        </p:nvSpPr>
        <p:spPr>
          <a:xfrm>
            <a:off x="8302752" y="3703320"/>
            <a:ext cx="3154680" cy="1920240"/>
          </a:xfrm>
          <a:prstGeom prst="rect">
            <a:avLst/>
          </a:prstGeom>
          <a:noFill/>
          <a:ln/>
        </p:spPr>
        <p:txBody>
          <a:bodyPr wrap="square" lIns="0" tIns="0" rIns="0" bIns="0" rtlCol="0" anchor="t"/>
          <a:lstStyle/>
          <a:p>
            <a:pPr indent="0" marL="0">
              <a:buNone/>
            </a:pPr>
            <a:r>
              <a:rPr lang="en-US" sz="1800" b="1" dirty="0">
                <a:solidFill>
                  <a:schemeClr val="tx1"/>
                </a:solidFill>
              </a:rPr>
              <a:t>LLM judge (qwen2.5:7b)</a:t>
            </a:r>
            <a:endParaRPr lang="en-US" sz="1600" dirty="0"/>
          </a:p>
          <a:p>
            <a:pPr indent="0" marL="0">
              <a:buNone/>
            </a:pPr>
            <a:r>
              <a:rPr lang="en-US" sz="1600" dirty="0">
                <a:solidFill>
                  <a:schemeClr val="tx1"/>
                </a:solidFill>
              </a:rPr>
              <a:t>Agrees on accuracy within one point for 97% of answers (kappa 0.76), but finds only 1 of 4 hallucinations, so manual scores stay the reference.</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A sample answer, with its passages</a:t>
            </a:r>
            <a:endParaRPr lang="en-US" sz="3200" dirty="0"/>
          </a:p>
        </p:txBody>
      </p:sp>
      <p:pic>
        <p:nvPicPr>
          <p:cNvPr id="3" name="app-screenshot" descr="The web app answering how LoRA reduces trainable parameters, with three source cards and the reader showing the cited page with the sentence highlighted">    </p:cNvPr>
          <p:cNvPicPr>
            <a:picLocks noChangeAspect="1"/>
          </p:cNvPicPr>
          <p:nvPr/>
        </p:nvPicPr>
        <p:blipFill>
          <a:blip r:embed="rId1"/>
          <a:stretch>
            <a:fillRect/>
          </a:stretch>
        </p:blipFill>
        <p:spPr>
          <a:xfrm>
            <a:off x="548640" y="1280160"/>
            <a:ext cx="6949440" cy="4343400"/>
          </a:xfrm>
          <a:prstGeom prst="rect">
            <a:avLst/>
          </a:prstGeom>
        </p:spPr>
      </p:pic>
      <p:sp>
        <p:nvSpPr>
          <p:cNvPr id="4" name="Text 1"/>
          <p:cNvSpPr txBox="1"/>
          <p:nvPr/>
        </p:nvSpPr>
        <p:spPr>
          <a:xfrm>
            <a:off x="548640" y="5715000"/>
            <a:ext cx="6949440" cy="548640"/>
          </a:xfrm>
          <a:prstGeom prst="rect">
            <a:avLst/>
          </a:prstGeom>
          <a:noFill/>
          <a:ln/>
        </p:spPr>
        <p:txBody>
          <a:bodyPr wrap="square" lIns="0" tIns="0" rIns="0" bIns="0" rtlCol="0" anchor="t"/>
          <a:lstStyle/>
          <a:p>
            <a:pPr indent="0" marL="0">
              <a:buNone/>
            </a:pPr>
            <a:r>
              <a:rPr lang="en-US" sz="1200" dirty="0">
                <a:solidFill>
                  <a:schemeClr val="accent4"/>
                </a:solidFill>
              </a:rPr>
              <a:t>The Next.js app: three source cards, citation chips, and the cited page with the sentence the answer drew on highlighted.</a:t>
            </a:r>
            <a:endParaRPr lang="en-US" sz="1200" dirty="0"/>
          </a:p>
        </p:txBody>
      </p:sp>
      <p:sp>
        <p:nvSpPr>
          <p:cNvPr id="5" name="qa-card"/>
          <p:cNvSpPr/>
          <p:nvPr/>
        </p:nvSpPr>
        <p:spPr>
          <a:xfrm>
            <a:off x="7818120" y="1280160"/>
            <a:ext cx="3822192" cy="4937760"/>
          </a:xfrm>
          <a:prstGeom prst="roundRect">
            <a:avLst>
              <a:gd name="adj" fmla="val 1914"/>
            </a:avLst>
          </a:prstGeom>
          <a:solidFill>
            <a:schemeClr val="bg2"/>
          </a:solidFill>
          <a:ln w="9525">
            <a:solidFill>
              <a:schemeClr val="accent5"/>
            </a:solidFill>
            <a:prstDash val="solid"/>
          </a:ln>
        </p:spPr>
      </p:sp>
      <p:sp>
        <p:nvSpPr>
          <p:cNvPr id="6" name="Text 3"/>
          <p:cNvSpPr txBox="1"/>
          <p:nvPr/>
        </p:nvSpPr>
        <p:spPr>
          <a:xfrm>
            <a:off x="8046720" y="1463040"/>
            <a:ext cx="3429000" cy="777240"/>
          </a:xfrm>
          <a:prstGeom prst="rect">
            <a:avLst/>
          </a:prstGeom>
          <a:noFill/>
          <a:ln/>
        </p:spPr>
        <p:txBody>
          <a:bodyPr wrap="square" lIns="0" tIns="0" rIns="0" bIns="0" rtlCol="0" anchor="t"/>
          <a:lstStyle/>
          <a:p>
            <a:pPr indent="0" marL="0">
              <a:buNone/>
            </a:pPr>
            <a:r>
              <a:rPr lang="en-US" sz="1500" b="1" dirty="0">
                <a:solidFill>
                  <a:schemeClr val="tx1"/>
                </a:solidFill>
              </a:rPr>
              <a:t>Q  How are the LoRA matrices A and B initialised, and why?</a:t>
            </a:r>
            <a:endParaRPr lang="en-US" sz="1500" dirty="0"/>
          </a:p>
        </p:txBody>
      </p:sp>
      <p:sp>
        <p:nvSpPr>
          <p:cNvPr id="7" name="Text 4"/>
          <p:cNvSpPr txBox="1"/>
          <p:nvPr/>
        </p:nvSpPr>
        <p:spPr>
          <a:xfrm>
            <a:off x="8046720" y="2286000"/>
            <a:ext cx="3429000" cy="1143000"/>
          </a:xfrm>
          <a:prstGeom prst="rect">
            <a:avLst/>
          </a:prstGeom>
          <a:noFill/>
          <a:ln/>
        </p:spPr>
        <p:txBody>
          <a:bodyPr wrap="square" lIns="0" tIns="0" rIns="0" bIns="0" rtlCol="0" anchor="t"/>
          <a:lstStyle/>
          <a:p>
            <a:pPr indent="0" marL="0">
              <a:buNone/>
            </a:pPr>
            <a:r>
              <a:rPr lang="en-US" sz="1500" dirty="0">
                <a:solidFill>
                  <a:schemeClr val="tx1"/>
                </a:solidFill>
              </a:rPr>
              <a:t>A  A gets a random Gaussian initialization and B is zero [1], so ΔW = BA is zero at the beginning of training.</a:t>
            </a:r>
            <a:endParaRPr lang="en-US" sz="1500" dirty="0"/>
          </a:p>
        </p:txBody>
      </p:sp>
      <p:sp>
        <p:nvSpPr>
          <p:cNvPr id="8" name="qa-badge-1"/>
          <p:cNvSpPr/>
          <p:nvPr/>
        </p:nvSpPr>
        <p:spPr>
          <a:xfrm>
            <a:off x="8046720" y="3611880"/>
            <a:ext cx="365760" cy="365760"/>
          </a:xfrm>
          <a:prstGeom prst="ellipse">
            <a:avLst/>
          </a:prstGeom>
          <a:solidFill>
            <a:schemeClr val="accent1"/>
          </a:solidFill>
          <a:ln w="12700">
            <a:solidFill>
              <a:schemeClr val="accent1"/>
            </a:solidFill>
            <a:prstDash val="solid"/>
          </a:ln>
        </p:spPr>
      </p:sp>
      <p:sp>
        <p:nvSpPr>
          <p:cNvPr id="9" name="Text 6"/>
          <p:cNvSpPr txBox="1"/>
          <p:nvPr/>
        </p:nvSpPr>
        <p:spPr>
          <a:xfrm>
            <a:off x="8046720" y="361188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0" name="Text 7"/>
          <p:cNvSpPr txBox="1"/>
          <p:nvPr/>
        </p:nvSpPr>
        <p:spPr>
          <a:xfrm>
            <a:off x="8549640" y="3657600"/>
            <a:ext cx="2926080" cy="292608"/>
          </a:xfrm>
          <a:prstGeom prst="rect">
            <a:avLst/>
          </a:prstGeom>
          <a:noFill/>
          <a:ln/>
        </p:spPr>
        <p:txBody>
          <a:bodyPr wrap="square" lIns="0" tIns="0" rIns="0" bIns="0" rtlCol="0" anchor="t"/>
          <a:lstStyle/>
          <a:p>
            <a:pPr indent="0" marL="0">
              <a:buNone/>
            </a:pPr>
            <a:r>
              <a:rPr lang="en-US" sz="1400" dirty="0">
                <a:solidFill>
                  <a:schemeClr val="tx1"/>
                </a:solidFill>
              </a:rPr>
              <a:t>LoRA, p. 4   ·   rerank 0.85</a:t>
            </a:r>
            <a:endParaRPr lang="en-US" sz="1400" dirty="0"/>
          </a:p>
        </p:txBody>
      </p:sp>
      <p:sp>
        <p:nvSpPr>
          <p:cNvPr id="11" name="qa-badge-2"/>
          <p:cNvSpPr/>
          <p:nvPr/>
        </p:nvSpPr>
        <p:spPr>
          <a:xfrm>
            <a:off x="8046720" y="4160520"/>
            <a:ext cx="365760" cy="365760"/>
          </a:xfrm>
          <a:prstGeom prst="ellipse">
            <a:avLst/>
          </a:prstGeom>
          <a:solidFill>
            <a:schemeClr val="accent1"/>
          </a:solidFill>
          <a:ln w="12700">
            <a:solidFill>
              <a:schemeClr val="accent1"/>
            </a:solidFill>
            <a:prstDash val="solid"/>
          </a:ln>
        </p:spPr>
      </p:sp>
      <p:sp>
        <p:nvSpPr>
          <p:cNvPr id="12" name="Text 9"/>
          <p:cNvSpPr txBox="1"/>
          <p:nvPr/>
        </p:nvSpPr>
        <p:spPr>
          <a:xfrm>
            <a:off x="8046720" y="416052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0"/>
          <p:cNvSpPr txBox="1"/>
          <p:nvPr/>
        </p:nvSpPr>
        <p:spPr>
          <a:xfrm>
            <a:off x="8549640" y="4206240"/>
            <a:ext cx="2926080" cy="292608"/>
          </a:xfrm>
          <a:prstGeom prst="rect">
            <a:avLst/>
          </a:prstGeom>
          <a:noFill/>
          <a:ln/>
        </p:spPr>
        <p:txBody>
          <a:bodyPr wrap="square" lIns="0" tIns="0" rIns="0" bIns="0" rtlCol="0" anchor="t"/>
          <a:lstStyle/>
          <a:p>
            <a:pPr indent="0" marL="0">
              <a:buNone/>
            </a:pPr>
            <a:r>
              <a:rPr lang="en-US" sz="1400" dirty="0">
                <a:solidFill>
                  <a:schemeClr val="tx1"/>
                </a:solidFill>
              </a:rPr>
              <a:t>LoRA, p. 2   ·   rerank 0.51</a:t>
            </a:r>
            <a:endParaRPr lang="en-US" sz="1400" dirty="0"/>
          </a:p>
        </p:txBody>
      </p:sp>
      <p:sp>
        <p:nvSpPr>
          <p:cNvPr id="14" name="qa-badge-3"/>
          <p:cNvSpPr/>
          <p:nvPr/>
        </p:nvSpPr>
        <p:spPr>
          <a:xfrm>
            <a:off x="8046720" y="4709160"/>
            <a:ext cx="365760" cy="365760"/>
          </a:xfrm>
          <a:prstGeom prst="ellipse">
            <a:avLst/>
          </a:prstGeom>
          <a:solidFill>
            <a:schemeClr val="accent1"/>
          </a:solidFill>
          <a:ln w="12700">
            <a:solidFill>
              <a:schemeClr val="accent1"/>
            </a:solidFill>
            <a:prstDash val="solid"/>
          </a:ln>
        </p:spPr>
      </p:sp>
      <p:sp>
        <p:nvSpPr>
          <p:cNvPr id="15" name="Text 12"/>
          <p:cNvSpPr txBox="1"/>
          <p:nvPr/>
        </p:nvSpPr>
        <p:spPr>
          <a:xfrm>
            <a:off x="8046720" y="470916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3"/>
          <p:cNvSpPr txBox="1"/>
          <p:nvPr/>
        </p:nvSpPr>
        <p:spPr>
          <a:xfrm>
            <a:off x="8549640" y="4754880"/>
            <a:ext cx="2926080" cy="292608"/>
          </a:xfrm>
          <a:prstGeom prst="rect">
            <a:avLst/>
          </a:prstGeom>
          <a:noFill/>
          <a:ln/>
        </p:spPr>
        <p:txBody>
          <a:bodyPr wrap="square" lIns="0" tIns="0" rIns="0" bIns="0" rtlCol="0" anchor="t"/>
          <a:lstStyle/>
          <a:p>
            <a:pPr indent="0" marL="0">
              <a:buNone/>
            </a:pPr>
            <a:r>
              <a:rPr lang="en-US" sz="1400" dirty="0">
                <a:solidFill>
                  <a:schemeClr val="tx1"/>
                </a:solidFill>
              </a:rPr>
              <a:t>LoRA, p. 18   ·   rerank 0.36</a:t>
            </a:r>
            <a:endParaRPr lang="en-US" sz="1400" dirty="0"/>
          </a:p>
        </p:txBody>
      </p:sp>
      <p:sp>
        <p:nvSpPr>
          <p:cNvPr id="17" name="Text 14"/>
          <p:cNvSpPr txBox="1"/>
          <p:nvPr/>
        </p:nvSpPr>
        <p:spPr>
          <a:xfrm>
            <a:off x="8046720" y="5349240"/>
            <a:ext cx="3429000" cy="731520"/>
          </a:xfrm>
          <a:prstGeom prst="rect">
            <a:avLst/>
          </a:prstGeom>
          <a:noFill/>
          <a:ln/>
        </p:spPr>
        <p:txBody>
          <a:bodyPr wrap="square" lIns="0" tIns="0" rIns="0" bIns="0" rtlCol="0" anchor="t"/>
          <a:lstStyle/>
          <a:p>
            <a:pPr indent="0" marL="0">
              <a:buNone/>
            </a:pPr>
            <a:r>
              <a:rPr lang="en-US" sz="1300" dirty="0">
                <a:solidFill>
                  <a:schemeClr val="accent4"/>
                </a:solidFill>
              </a:rPr>
              <a:t>Live demo: lookup, method detail, comparison, follow-up, out of scope (refused), web fallback.</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All three stretch goals, on the same pipeline</a:t>
            </a:r>
            <a:endParaRPr lang="en-US" sz="3200" dirty="0"/>
          </a:p>
        </p:txBody>
      </p:sp>
      <p:sp>
        <p:nvSpPr>
          <p:cNvPr id="3" name="stretch-card-1"/>
          <p:cNvSpPr/>
          <p:nvPr/>
        </p:nvSpPr>
        <p:spPr>
          <a:xfrm>
            <a:off x="548640" y="1325880"/>
            <a:ext cx="3593592" cy="4526280"/>
          </a:xfrm>
          <a:prstGeom prst="roundRect">
            <a:avLst>
              <a:gd name="adj" fmla="val 2036"/>
            </a:avLst>
          </a:prstGeom>
          <a:solidFill>
            <a:schemeClr val="bg2"/>
          </a:solidFill>
          <a:ln w="9525">
            <a:solidFill>
              <a:schemeClr val="accent5"/>
            </a:solidFill>
            <a:prstDash val="solid"/>
          </a:ln>
        </p:spPr>
      </p:sp>
      <p:sp>
        <p:nvSpPr>
          <p:cNvPr id="4" name="Text 2"/>
          <p:cNvSpPr txBox="1"/>
          <p:nvPr/>
        </p:nvSpPr>
        <p:spPr>
          <a:xfrm>
            <a:off x="822960" y="1508760"/>
            <a:ext cx="91440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S1</a:t>
            </a:r>
            <a:endParaRPr lang="en-US" sz="3000" dirty="0"/>
          </a:p>
        </p:txBody>
      </p:sp>
      <p:sp>
        <p:nvSpPr>
          <p:cNvPr id="5" name="Text 3"/>
          <p:cNvSpPr txBox="1"/>
          <p:nvPr/>
        </p:nvSpPr>
        <p:spPr>
          <a:xfrm>
            <a:off x="822960" y="2103120"/>
            <a:ext cx="3108960" cy="411480"/>
          </a:xfrm>
          <a:prstGeom prst="rect">
            <a:avLst/>
          </a:prstGeom>
          <a:noFill/>
          <a:ln/>
        </p:spPr>
        <p:txBody>
          <a:bodyPr wrap="square" lIns="0" tIns="0" rIns="0" bIns="0" rtlCol="0" anchor="t"/>
          <a:lstStyle/>
          <a:p>
            <a:pPr indent="0" marL="0">
              <a:buNone/>
            </a:pPr>
            <a:r>
              <a:rPr lang="en-US" sz="1800" b="1" dirty="0">
                <a:solidFill>
                  <a:schemeClr val="tx1"/>
                </a:solidFill>
              </a:rPr>
              <a:t>Conversational memory</a:t>
            </a:r>
            <a:endParaRPr lang="en-US" sz="1800" dirty="0"/>
          </a:p>
        </p:txBody>
      </p:sp>
      <p:sp>
        <p:nvSpPr>
          <p:cNvPr id="6" name="Text 4"/>
          <p:cNvSpPr txBox="1"/>
          <p:nvPr/>
        </p:nvSpPr>
        <p:spPr>
          <a:xfrm>
            <a:off x="822960" y="2606040"/>
            <a:ext cx="3108960" cy="2148840"/>
          </a:xfrm>
          <a:prstGeom prst="rect">
            <a:avLst/>
          </a:prstGeom>
          <a:noFill/>
          <a:ln/>
        </p:spPr>
        <p:txBody>
          <a:bodyPr wrap="square" lIns="0" tIns="0" rIns="0" bIns="0" rtlCol="0" anchor="t"/>
          <a:lstStyle/>
          <a:p>
            <a:pPr indent="0" marL="0">
              <a:buNone/>
            </a:pPr>
            <a:r>
              <a:rPr lang="en-US" sz="1600" dirty="0">
                <a:solidFill>
                  <a:schemeClr val="tx1"/>
                </a:solidFill>
              </a:rPr>
              <a:t>Chats saved in SQLite. A follow-up is rewritten into a standalone question from the last 6 messages before retrieval: “What data type does it use for the frozen weights?” is searched as a QLoRA question.</a:t>
            </a:r>
            <a:endParaRPr lang="en-US" sz="1600" dirty="0"/>
          </a:p>
        </p:txBody>
      </p:sp>
      <p:sp>
        <p:nvSpPr>
          <p:cNvPr id="7" name="Text 5"/>
          <p:cNvSpPr txBox="1"/>
          <p:nvPr/>
        </p:nvSpPr>
        <p:spPr>
          <a:xfrm>
            <a:off x="822960" y="4892040"/>
            <a:ext cx="3108960" cy="777240"/>
          </a:xfrm>
          <a:prstGeom prst="rect">
            <a:avLst/>
          </a:prstGeom>
          <a:noFill/>
          <a:ln/>
        </p:spPr>
        <p:txBody>
          <a:bodyPr wrap="square" lIns="0" tIns="0" rIns="0" bIns="0" rtlCol="0" anchor="t"/>
          <a:lstStyle/>
          <a:p>
            <a:pPr indent="0" marL="0">
              <a:buNone/>
            </a:pPr>
            <a:r>
              <a:rPr lang="en-US" sz="1600" i="1" dirty="0">
                <a:solidFill>
                  <a:schemeClr val="accent1"/>
                </a:solidFill>
              </a:rPr>
              <a:t>Users can talk to the papers instead of repeating context.</a:t>
            </a:r>
            <a:endParaRPr lang="en-US" sz="1600" dirty="0"/>
          </a:p>
        </p:txBody>
      </p:sp>
      <p:sp>
        <p:nvSpPr>
          <p:cNvPr id="8" name="stretch-card-2"/>
          <p:cNvSpPr/>
          <p:nvPr/>
        </p:nvSpPr>
        <p:spPr>
          <a:xfrm>
            <a:off x="4297680" y="1325880"/>
            <a:ext cx="3593592" cy="4526280"/>
          </a:xfrm>
          <a:prstGeom prst="roundRect">
            <a:avLst>
              <a:gd name="adj" fmla="val 2036"/>
            </a:avLst>
          </a:prstGeom>
          <a:solidFill>
            <a:schemeClr val="bg2"/>
          </a:solidFill>
          <a:ln w="9525">
            <a:solidFill>
              <a:schemeClr val="accent5"/>
            </a:solidFill>
            <a:prstDash val="solid"/>
          </a:ln>
        </p:spPr>
      </p:sp>
      <p:sp>
        <p:nvSpPr>
          <p:cNvPr id="9" name="Text 7"/>
          <p:cNvSpPr txBox="1"/>
          <p:nvPr/>
        </p:nvSpPr>
        <p:spPr>
          <a:xfrm>
            <a:off x="4572000" y="1508760"/>
            <a:ext cx="91440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S2</a:t>
            </a:r>
            <a:endParaRPr lang="en-US" sz="3000" dirty="0"/>
          </a:p>
        </p:txBody>
      </p:sp>
      <p:sp>
        <p:nvSpPr>
          <p:cNvPr id="10" name="Text 8"/>
          <p:cNvSpPr txBox="1"/>
          <p:nvPr/>
        </p:nvSpPr>
        <p:spPr>
          <a:xfrm>
            <a:off x="4572000" y="2103120"/>
            <a:ext cx="3108960" cy="411480"/>
          </a:xfrm>
          <a:prstGeom prst="rect">
            <a:avLst/>
          </a:prstGeom>
          <a:noFill/>
          <a:ln/>
        </p:spPr>
        <p:txBody>
          <a:bodyPr wrap="square" lIns="0" tIns="0" rIns="0" bIns="0" rtlCol="0" anchor="t"/>
          <a:lstStyle/>
          <a:p>
            <a:pPr indent="0" marL="0">
              <a:buNone/>
            </a:pPr>
            <a:r>
              <a:rPr lang="en-US" sz="1800" b="1" dirty="0">
                <a:solidFill>
                  <a:schemeClr val="tx1"/>
                </a:solidFill>
              </a:rPr>
              <a:t>Two apps</a:t>
            </a:r>
            <a:endParaRPr lang="en-US" sz="1800" dirty="0"/>
          </a:p>
        </p:txBody>
      </p:sp>
      <p:sp>
        <p:nvSpPr>
          <p:cNvPr id="11" name="Text 9"/>
          <p:cNvSpPr txBox="1"/>
          <p:nvPr/>
        </p:nvSpPr>
        <p:spPr>
          <a:xfrm>
            <a:off x="4572000" y="2606040"/>
            <a:ext cx="3108960" cy="2148840"/>
          </a:xfrm>
          <a:prstGeom prst="rect">
            <a:avLst/>
          </a:prstGeom>
          <a:noFill/>
          <a:ln/>
        </p:spPr>
        <p:txBody>
          <a:bodyPr wrap="square" lIns="0" tIns="0" rIns="0" bIns="0" rtlCol="0" anchor="t"/>
          <a:lstStyle/>
          <a:p>
            <a:pPr indent="0" marL="0">
              <a:buNone/>
            </a:pPr>
            <a:r>
              <a:rPr lang="en-US" sz="1600" dirty="0">
                <a:solidFill>
                  <a:schemeClr val="tx1"/>
                </a:solidFill>
              </a:rPr>
              <a:t>Streamlit in-process, and Next.js over a FastAPI service that streams Server-Sent Events. Both follow the design mockup: sessions, paper filter, a reader that opens the cited page, light and dark.</a:t>
            </a:r>
            <a:endParaRPr lang="en-US" sz="1600" dirty="0"/>
          </a:p>
        </p:txBody>
      </p:sp>
      <p:sp>
        <p:nvSpPr>
          <p:cNvPr id="12" name="Text 10"/>
          <p:cNvSpPr txBox="1"/>
          <p:nvPr/>
        </p:nvSpPr>
        <p:spPr>
          <a:xfrm>
            <a:off x="4572000" y="4892040"/>
            <a:ext cx="3108960" cy="777240"/>
          </a:xfrm>
          <a:prstGeom prst="rect">
            <a:avLst/>
          </a:prstGeom>
          <a:noFill/>
          <a:ln/>
        </p:spPr>
        <p:txBody>
          <a:bodyPr wrap="square" lIns="0" tIns="0" rIns="0" bIns="0" rtlCol="0" anchor="t"/>
          <a:lstStyle/>
          <a:p>
            <a:pPr indent="0" marL="0">
              <a:buNone/>
            </a:pPr>
            <a:r>
              <a:rPr lang="en-US" sz="1600" i="1" dirty="0">
                <a:solidFill>
                  <a:schemeClr val="accent1"/>
                </a:solidFill>
              </a:rPr>
              <a:t>Every claim is one click from its page.</a:t>
            </a:r>
            <a:endParaRPr lang="en-US" sz="1600" dirty="0"/>
          </a:p>
        </p:txBody>
      </p:sp>
      <p:sp>
        <p:nvSpPr>
          <p:cNvPr id="13" name="stretch-card-3"/>
          <p:cNvSpPr/>
          <p:nvPr/>
        </p:nvSpPr>
        <p:spPr>
          <a:xfrm>
            <a:off x="8046720" y="1325880"/>
            <a:ext cx="3593592" cy="4526280"/>
          </a:xfrm>
          <a:prstGeom prst="roundRect">
            <a:avLst>
              <a:gd name="adj" fmla="val 2036"/>
            </a:avLst>
          </a:prstGeom>
          <a:solidFill>
            <a:srgbClr val="E3F2EC"/>
          </a:solidFill>
          <a:ln w="9525">
            <a:solidFill>
              <a:schemeClr val="accent5"/>
            </a:solidFill>
            <a:prstDash val="solid"/>
          </a:ln>
        </p:spPr>
      </p:sp>
      <p:sp>
        <p:nvSpPr>
          <p:cNvPr id="14" name="Text 12"/>
          <p:cNvSpPr txBox="1"/>
          <p:nvPr/>
        </p:nvSpPr>
        <p:spPr>
          <a:xfrm>
            <a:off x="8321040" y="1508760"/>
            <a:ext cx="914400" cy="548640"/>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S3</a:t>
            </a:r>
            <a:endParaRPr lang="en-US" sz="3000" dirty="0"/>
          </a:p>
        </p:txBody>
      </p:sp>
      <p:sp>
        <p:nvSpPr>
          <p:cNvPr id="15" name="Text 13"/>
          <p:cNvSpPr txBox="1"/>
          <p:nvPr/>
        </p:nvSpPr>
        <p:spPr>
          <a:xfrm>
            <a:off x="8321040" y="2103120"/>
            <a:ext cx="3108960" cy="411480"/>
          </a:xfrm>
          <a:prstGeom prst="rect">
            <a:avLst/>
          </a:prstGeom>
          <a:noFill/>
          <a:ln/>
        </p:spPr>
        <p:txBody>
          <a:bodyPr wrap="square" lIns="0" tIns="0" rIns="0" bIns="0" rtlCol="0" anchor="t"/>
          <a:lstStyle/>
          <a:p>
            <a:pPr indent="0" marL="0">
              <a:buNone/>
            </a:pPr>
            <a:r>
              <a:rPr lang="en-US" sz="1800" b="1" dirty="0">
                <a:solidFill>
                  <a:schemeClr val="tx1"/>
                </a:solidFill>
              </a:rPr>
              <a:t>Corrective RAG</a:t>
            </a:r>
            <a:endParaRPr lang="en-US" sz="1800" dirty="0"/>
          </a:p>
        </p:txBody>
      </p:sp>
      <p:sp>
        <p:nvSpPr>
          <p:cNvPr id="16" name="Text 14"/>
          <p:cNvSpPr txBox="1"/>
          <p:nvPr/>
        </p:nvSpPr>
        <p:spPr>
          <a:xfrm>
            <a:off x="8321040" y="2606040"/>
            <a:ext cx="3108960" cy="2148840"/>
          </a:xfrm>
          <a:prstGeom prst="rect">
            <a:avLst/>
          </a:prstGeom>
          <a:noFill/>
          <a:ln/>
        </p:spPr>
        <p:txBody>
          <a:bodyPr wrap="square" lIns="0" tIns="0" rIns="0" bIns="0" rtlCol="0" anchor="t"/>
          <a:lstStyle/>
          <a:p>
            <a:pPr indent="0" marL="0">
              <a:buNone/>
            </a:pPr>
            <a:r>
              <a:rPr lang="en-US" sz="1600" dirty="0">
                <a:solidFill>
                  <a:schemeClr val="tx1"/>
                </a:solidFill>
              </a:rPr>
              <a:t>Opt-in. When the best passage scores below 0.72, DuckDuckGo results are reranked with the papers and kept only if they score higher, marked WEB with their address.</a:t>
            </a:r>
            <a:endParaRPr lang="en-US" sz="1600" dirty="0"/>
          </a:p>
        </p:txBody>
      </p:sp>
      <p:sp>
        <p:nvSpPr>
          <p:cNvPr id="17" name="Text 15"/>
          <p:cNvSpPr txBox="1"/>
          <p:nvPr/>
        </p:nvSpPr>
        <p:spPr>
          <a:xfrm>
            <a:off x="8321040" y="4892040"/>
            <a:ext cx="3108960" cy="777240"/>
          </a:xfrm>
          <a:prstGeom prst="rect">
            <a:avLst/>
          </a:prstGeom>
          <a:noFill/>
          <a:ln/>
        </p:spPr>
        <p:txBody>
          <a:bodyPr wrap="square" lIns="0" tIns="0" rIns="0" bIns="0" rtlCol="0" anchor="t"/>
          <a:lstStyle/>
          <a:p>
            <a:pPr indent="0" marL="0">
              <a:buNone/>
            </a:pPr>
            <a:r>
              <a:rPr lang="en-US" sz="1600" i="1" dirty="0">
                <a:solidFill>
                  <a:schemeClr val="accent3"/>
                </a:solidFill>
              </a:rPr>
              <a:t>Covers questions beyond the papers, labelled as such.</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What went wrong, and what fixed it</a:t>
            </a:r>
            <a:endParaRPr lang="en-US" sz="3200" dirty="0"/>
          </a:p>
        </p:txBody>
      </p:sp>
      <p:sp>
        <p:nvSpPr>
          <p:cNvPr id="3" name="challenge-card-1"/>
          <p:cNvSpPr/>
          <p:nvPr/>
        </p:nvSpPr>
        <p:spPr>
          <a:xfrm>
            <a:off x="548640" y="1325880"/>
            <a:ext cx="5486400" cy="1463040"/>
          </a:xfrm>
          <a:prstGeom prst="roundRect">
            <a:avLst>
              <a:gd name="adj" fmla="val 5000"/>
            </a:avLst>
          </a:prstGeom>
          <a:solidFill>
            <a:schemeClr val="bg1"/>
          </a:solidFill>
          <a:ln w="9525">
            <a:solidFill>
              <a:schemeClr val="accent5"/>
            </a:solidFill>
            <a:prstDash val="solid"/>
          </a:ln>
        </p:spPr>
      </p:sp>
      <p:sp>
        <p:nvSpPr>
          <p:cNvPr id="4" name="challenge-badge-1"/>
          <p:cNvSpPr/>
          <p:nvPr/>
        </p:nvSpPr>
        <p:spPr>
          <a:xfrm>
            <a:off x="777240" y="1554480"/>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325880" y="1527048"/>
            <a:ext cx="4526280" cy="365760"/>
          </a:xfrm>
          <a:prstGeom prst="rect">
            <a:avLst/>
          </a:prstGeom>
          <a:noFill/>
          <a:ln/>
        </p:spPr>
        <p:txBody>
          <a:bodyPr wrap="square" lIns="0" tIns="0" rIns="0" bIns="0" rtlCol="0" anchor="t"/>
          <a:lstStyle/>
          <a:p>
            <a:pPr indent="0" marL="0">
              <a:buNone/>
            </a:pPr>
            <a:r>
              <a:rPr lang="en-US" sz="1600" b="1" dirty="0">
                <a:solidFill>
                  <a:schemeClr val="tx1"/>
                </a:solidFill>
              </a:rPr>
              <a:t>Gemini quota ran out mid-sweep</a:t>
            </a:r>
            <a:endParaRPr lang="en-US" sz="1600" dirty="0"/>
          </a:p>
        </p:txBody>
      </p:sp>
      <p:sp>
        <p:nvSpPr>
          <p:cNvPr id="7" name="Text 5"/>
          <p:cNvSpPr txBox="1"/>
          <p:nvPr/>
        </p:nvSpPr>
        <p:spPr>
          <a:xfrm>
            <a:off x="1325880" y="1929384"/>
            <a:ext cx="4526280" cy="777240"/>
          </a:xfrm>
          <a:prstGeom prst="rect">
            <a:avLst/>
          </a:prstGeom>
          <a:noFill/>
          <a:ln/>
        </p:spPr>
        <p:txBody>
          <a:bodyPr wrap="square" lIns="0" tIns="0" rIns="0" bIns="0" rtlCol="0" anchor="t"/>
          <a:lstStyle/>
          <a:p>
            <a:pPr indent="0" marL="0">
              <a:buNone/>
            </a:pPr>
            <a:r>
              <a:rPr lang="en-US" sz="1400" dirty="0">
                <a:solidFill>
                  <a:schemeClr val="tx1"/>
                </a:solidFill>
              </a:rPr>
              <a:t>Local bge-m3 became the primary model; Gemini results are cached and it stays selectable.</a:t>
            </a:r>
            <a:endParaRPr lang="en-US" sz="1400" dirty="0"/>
          </a:p>
        </p:txBody>
      </p:sp>
      <p:sp>
        <p:nvSpPr>
          <p:cNvPr id="8" name="challenge-card-2"/>
          <p:cNvSpPr/>
          <p:nvPr/>
        </p:nvSpPr>
        <p:spPr>
          <a:xfrm>
            <a:off x="6144768" y="1325880"/>
            <a:ext cx="5486400" cy="1463040"/>
          </a:xfrm>
          <a:prstGeom prst="roundRect">
            <a:avLst>
              <a:gd name="adj" fmla="val 5000"/>
            </a:avLst>
          </a:prstGeom>
          <a:solidFill>
            <a:schemeClr val="bg1"/>
          </a:solidFill>
          <a:ln w="9525">
            <a:solidFill>
              <a:schemeClr val="accent5"/>
            </a:solidFill>
            <a:prstDash val="solid"/>
          </a:ln>
        </p:spPr>
      </p:sp>
      <p:sp>
        <p:nvSpPr>
          <p:cNvPr id="9" name="challenge-badge-2"/>
          <p:cNvSpPr/>
          <p:nvPr/>
        </p:nvSpPr>
        <p:spPr>
          <a:xfrm>
            <a:off x="6373368" y="15544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6373368" y="1554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6922008" y="1527048"/>
            <a:ext cx="4526280" cy="365760"/>
          </a:xfrm>
          <a:prstGeom prst="rect">
            <a:avLst/>
          </a:prstGeom>
          <a:noFill/>
          <a:ln/>
        </p:spPr>
        <p:txBody>
          <a:bodyPr wrap="square" lIns="0" tIns="0" rIns="0" bIns="0" rtlCol="0" anchor="t"/>
          <a:lstStyle/>
          <a:p>
            <a:pPr indent="0" marL="0">
              <a:buNone/>
            </a:pPr>
            <a:r>
              <a:rPr lang="en-US" sz="1600" b="1" dirty="0">
                <a:solidFill>
                  <a:schemeClr val="tx1"/>
                </a:solidFill>
              </a:rPr>
              <a:t>Gold labels missed appendix pages</a:t>
            </a:r>
            <a:endParaRPr lang="en-US" sz="1600" dirty="0"/>
          </a:p>
        </p:txBody>
      </p:sp>
      <p:sp>
        <p:nvSpPr>
          <p:cNvPr id="12" name="Text 10"/>
          <p:cNvSpPr txBox="1"/>
          <p:nvPr/>
        </p:nvSpPr>
        <p:spPr>
          <a:xfrm>
            <a:off x="6922008" y="1929384"/>
            <a:ext cx="4526280" cy="777240"/>
          </a:xfrm>
          <a:prstGeom prst="rect">
            <a:avLst/>
          </a:prstGeom>
          <a:noFill/>
          <a:ln/>
        </p:spPr>
        <p:txBody>
          <a:bodyPr wrap="square" lIns="0" tIns="0" rIns="0" bIns="0" rtlCol="0" anchor="t"/>
          <a:lstStyle/>
          <a:p>
            <a:pPr indent="0" marL="0">
              <a:buNone/>
            </a:pPr>
            <a:r>
              <a:rPr lang="en-US" sz="1400" dirty="0">
                <a:solidFill>
                  <a:schemeClr val="tx1"/>
                </a:solidFill>
              </a:rPr>
              <a:t>An audit added the missing pages; strategies were re-scored before the final choice.</a:t>
            </a:r>
            <a:endParaRPr lang="en-US" sz="1400" dirty="0"/>
          </a:p>
        </p:txBody>
      </p:sp>
      <p:sp>
        <p:nvSpPr>
          <p:cNvPr id="13" name="challenge-card-3"/>
          <p:cNvSpPr/>
          <p:nvPr/>
        </p:nvSpPr>
        <p:spPr>
          <a:xfrm>
            <a:off x="548640" y="2953512"/>
            <a:ext cx="5486400" cy="1463040"/>
          </a:xfrm>
          <a:prstGeom prst="roundRect">
            <a:avLst>
              <a:gd name="adj" fmla="val 5000"/>
            </a:avLst>
          </a:prstGeom>
          <a:solidFill>
            <a:schemeClr val="bg1"/>
          </a:solidFill>
          <a:ln w="9525">
            <a:solidFill>
              <a:schemeClr val="accent5"/>
            </a:solidFill>
            <a:prstDash val="solid"/>
          </a:ln>
        </p:spPr>
      </p:sp>
      <p:sp>
        <p:nvSpPr>
          <p:cNvPr id="14" name="challenge-badge-3"/>
          <p:cNvSpPr/>
          <p:nvPr/>
        </p:nvSpPr>
        <p:spPr>
          <a:xfrm>
            <a:off x="777240" y="3182112"/>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777240" y="318211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4"/>
          <p:cNvSpPr txBox="1"/>
          <p:nvPr/>
        </p:nvSpPr>
        <p:spPr>
          <a:xfrm>
            <a:off x="1325880" y="3154680"/>
            <a:ext cx="4526280" cy="365760"/>
          </a:xfrm>
          <a:prstGeom prst="rect">
            <a:avLst/>
          </a:prstGeom>
          <a:noFill/>
          <a:ln/>
        </p:spPr>
        <p:txBody>
          <a:bodyPr wrap="square" lIns="0" tIns="0" rIns="0" bIns="0" rtlCol="0" anchor="t"/>
          <a:lstStyle/>
          <a:p>
            <a:pPr indent="0" marL="0">
              <a:buNone/>
            </a:pPr>
            <a:r>
              <a:rPr lang="en-US" sz="1600" b="1" dirty="0">
                <a:solidFill>
                  <a:schemeClr val="tx1"/>
                </a:solidFill>
              </a:rPr>
              <a:t>Out-of-scope answers slipped through</a:t>
            </a:r>
            <a:endParaRPr lang="en-US" sz="1600" dirty="0"/>
          </a:p>
        </p:txBody>
      </p:sp>
      <p:sp>
        <p:nvSpPr>
          <p:cNvPr id="17" name="Text 15"/>
          <p:cNvSpPr txBox="1"/>
          <p:nvPr/>
        </p:nvSpPr>
        <p:spPr>
          <a:xfrm>
            <a:off x="1325880" y="3557016"/>
            <a:ext cx="4526280" cy="777240"/>
          </a:xfrm>
          <a:prstGeom prst="rect">
            <a:avLst/>
          </a:prstGeom>
          <a:noFill/>
          <a:ln/>
        </p:spPr>
        <p:txBody>
          <a:bodyPr wrap="square" lIns="0" tIns="0" rIns="0" bIns="0" rtlCol="0" anchor="t"/>
          <a:lstStyle/>
          <a:p>
            <a:pPr indent="0" marL="0">
              <a:buNone/>
            </a:pPr>
            <a:r>
              <a:rPr lang="en-US" sz="1400" dirty="0">
                <a:solidFill>
                  <a:schemeClr val="tx1"/>
                </a:solidFill>
              </a:rPr>
              <a:t>A weak-context notice in the prompt: refusals 2 of 5 → 5 of 5, none wrongly refused.</a:t>
            </a:r>
            <a:endParaRPr lang="en-US" sz="1400" dirty="0"/>
          </a:p>
        </p:txBody>
      </p:sp>
      <p:sp>
        <p:nvSpPr>
          <p:cNvPr id="18" name="challenge-card-4"/>
          <p:cNvSpPr/>
          <p:nvPr/>
        </p:nvSpPr>
        <p:spPr>
          <a:xfrm>
            <a:off x="6144768" y="2953512"/>
            <a:ext cx="5486400" cy="1463040"/>
          </a:xfrm>
          <a:prstGeom prst="roundRect">
            <a:avLst>
              <a:gd name="adj" fmla="val 5000"/>
            </a:avLst>
          </a:prstGeom>
          <a:solidFill>
            <a:schemeClr val="bg1"/>
          </a:solidFill>
          <a:ln w="9525">
            <a:solidFill>
              <a:schemeClr val="accent5"/>
            </a:solidFill>
            <a:prstDash val="solid"/>
          </a:ln>
        </p:spPr>
      </p:sp>
      <p:sp>
        <p:nvSpPr>
          <p:cNvPr id="19" name="challenge-badge-4"/>
          <p:cNvSpPr/>
          <p:nvPr/>
        </p:nvSpPr>
        <p:spPr>
          <a:xfrm>
            <a:off x="6373368" y="3182112"/>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6373368" y="318211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9"/>
          <p:cNvSpPr txBox="1"/>
          <p:nvPr/>
        </p:nvSpPr>
        <p:spPr>
          <a:xfrm>
            <a:off x="6922008" y="3154680"/>
            <a:ext cx="4526280" cy="365760"/>
          </a:xfrm>
          <a:prstGeom prst="rect">
            <a:avLst/>
          </a:prstGeom>
          <a:noFill/>
          <a:ln/>
        </p:spPr>
        <p:txBody>
          <a:bodyPr wrap="square" lIns="0" tIns="0" rIns="0" bIns="0" rtlCol="0" anchor="t"/>
          <a:lstStyle/>
          <a:p>
            <a:pPr indent="0" marL="0">
              <a:buNone/>
            </a:pPr>
            <a:r>
              <a:rPr lang="en-US" sz="1600" b="1" dirty="0">
                <a:solidFill>
                  <a:schemeClr val="tx1"/>
                </a:solidFill>
              </a:rPr>
              <a:t>The LLM judge missed hallucinations</a:t>
            </a:r>
            <a:endParaRPr lang="en-US" sz="1600" dirty="0"/>
          </a:p>
        </p:txBody>
      </p:sp>
      <p:sp>
        <p:nvSpPr>
          <p:cNvPr id="22" name="Text 20"/>
          <p:cNvSpPr txBox="1"/>
          <p:nvPr/>
        </p:nvSpPr>
        <p:spPr>
          <a:xfrm>
            <a:off x="6922008" y="3557016"/>
            <a:ext cx="4526280" cy="777240"/>
          </a:xfrm>
          <a:prstGeom prst="rect">
            <a:avLst/>
          </a:prstGeom>
          <a:noFill/>
          <a:ln/>
        </p:spPr>
        <p:txBody>
          <a:bodyPr wrap="square" lIns="0" tIns="0" rIns="0" bIns="0" rtlCol="0" anchor="t"/>
          <a:lstStyle/>
          <a:p>
            <a:pPr indent="0" marL="0">
              <a:buNone/>
            </a:pPr>
            <a:r>
              <a:rPr lang="en-US" sz="1400" dirty="0">
                <a:solidFill>
                  <a:schemeClr val="tx1"/>
                </a:solidFill>
              </a:rPr>
              <a:t>It found 1 of 4, so manual scores are the reference and the judge only ranks variants.</a:t>
            </a:r>
            <a:endParaRPr lang="en-US" sz="1400" dirty="0"/>
          </a:p>
        </p:txBody>
      </p:sp>
      <p:sp>
        <p:nvSpPr>
          <p:cNvPr id="23" name="challenge-card-5"/>
          <p:cNvSpPr/>
          <p:nvPr/>
        </p:nvSpPr>
        <p:spPr>
          <a:xfrm>
            <a:off x="548640" y="4581144"/>
            <a:ext cx="5486400" cy="1463040"/>
          </a:xfrm>
          <a:prstGeom prst="roundRect">
            <a:avLst>
              <a:gd name="adj" fmla="val 5000"/>
            </a:avLst>
          </a:prstGeom>
          <a:solidFill>
            <a:schemeClr val="bg1"/>
          </a:solidFill>
          <a:ln w="9525">
            <a:solidFill>
              <a:schemeClr val="accent5"/>
            </a:solidFill>
            <a:prstDash val="solid"/>
          </a:ln>
        </p:spPr>
      </p:sp>
      <p:sp>
        <p:nvSpPr>
          <p:cNvPr id="24" name="challenge-badge-5"/>
          <p:cNvSpPr/>
          <p:nvPr/>
        </p:nvSpPr>
        <p:spPr>
          <a:xfrm>
            <a:off x="777240" y="4809744"/>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777240" y="480974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6" name="Text 24"/>
          <p:cNvSpPr txBox="1"/>
          <p:nvPr/>
        </p:nvSpPr>
        <p:spPr>
          <a:xfrm>
            <a:off x="1325880" y="4782312"/>
            <a:ext cx="4526280" cy="365760"/>
          </a:xfrm>
          <a:prstGeom prst="rect">
            <a:avLst/>
          </a:prstGeom>
          <a:noFill/>
          <a:ln/>
        </p:spPr>
        <p:txBody>
          <a:bodyPr wrap="square" lIns="0" tIns="0" rIns="0" bIns="0" rtlCol="0" anchor="t"/>
          <a:lstStyle/>
          <a:p>
            <a:pPr indent="0" marL="0">
              <a:buNone/>
            </a:pPr>
            <a:r>
              <a:rPr lang="en-US" sz="1600" b="1" dirty="0">
                <a:solidFill>
                  <a:schemeClr val="tx1"/>
                </a:solidFill>
              </a:rPr>
              <a:t>Follow-ups drifted to older topics</a:t>
            </a:r>
            <a:endParaRPr lang="en-US" sz="1600" dirty="0"/>
          </a:p>
        </p:txBody>
      </p:sp>
      <p:sp>
        <p:nvSpPr>
          <p:cNvPr id="27" name="Text 25"/>
          <p:cNvSpPr txBox="1"/>
          <p:nvPr/>
        </p:nvSpPr>
        <p:spPr>
          <a:xfrm>
            <a:off x="1325880" y="5184648"/>
            <a:ext cx="4526280" cy="777240"/>
          </a:xfrm>
          <a:prstGeom prst="rect">
            <a:avLst/>
          </a:prstGeom>
          <a:noFill/>
          <a:ln/>
        </p:spPr>
        <p:txBody>
          <a:bodyPr wrap="square" lIns="0" tIns="0" rIns="0" bIns="0" rtlCol="0" anchor="t"/>
          <a:lstStyle/>
          <a:p>
            <a:pPr indent="0" marL="0">
              <a:buNone/>
            </a:pPr>
            <a:r>
              <a:rPr lang="en-US" sz="1400" dirty="0">
                <a:solidFill>
                  <a:schemeClr val="tx1"/>
                </a:solidFill>
              </a:rPr>
              <a:t>The rewriter sees earlier questions only, plus the latest exchange: right topic 2 of 4 → 5 of 5 runs.</a:t>
            </a:r>
            <a:endParaRPr lang="en-US" sz="1400" dirty="0"/>
          </a:p>
        </p:txBody>
      </p:sp>
      <p:sp>
        <p:nvSpPr>
          <p:cNvPr id="28" name="challenge-card-6"/>
          <p:cNvSpPr/>
          <p:nvPr/>
        </p:nvSpPr>
        <p:spPr>
          <a:xfrm>
            <a:off x="6144768" y="4581144"/>
            <a:ext cx="5486400" cy="1463040"/>
          </a:xfrm>
          <a:prstGeom prst="roundRect">
            <a:avLst>
              <a:gd name="adj" fmla="val 5000"/>
            </a:avLst>
          </a:prstGeom>
          <a:solidFill>
            <a:schemeClr val="bg1"/>
          </a:solidFill>
          <a:ln w="9525">
            <a:solidFill>
              <a:schemeClr val="accent5"/>
            </a:solidFill>
            <a:prstDash val="solid"/>
          </a:ln>
        </p:spPr>
      </p:sp>
      <p:sp>
        <p:nvSpPr>
          <p:cNvPr id="29" name="challenge-badge-6"/>
          <p:cNvSpPr/>
          <p:nvPr/>
        </p:nvSpPr>
        <p:spPr>
          <a:xfrm>
            <a:off x="6373368" y="4809744"/>
            <a:ext cx="384048" cy="384048"/>
          </a:xfrm>
          <a:prstGeom prst="ellipse">
            <a:avLst/>
          </a:prstGeom>
          <a:solidFill>
            <a:schemeClr val="accent1"/>
          </a:solidFill>
          <a:ln w="12700">
            <a:solidFill>
              <a:schemeClr val="accent1"/>
            </a:solidFill>
            <a:prstDash val="solid"/>
          </a:ln>
        </p:spPr>
      </p:sp>
      <p:sp>
        <p:nvSpPr>
          <p:cNvPr id="30" name="Text 28"/>
          <p:cNvSpPr txBox="1"/>
          <p:nvPr/>
        </p:nvSpPr>
        <p:spPr>
          <a:xfrm>
            <a:off x="6373368" y="480974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1" name="Text 29"/>
          <p:cNvSpPr txBox="1"/>
          <p:nvPr/>
        </p:nvSpPr>
        <p:spPr>
          <a:xfrm>
            <a:off x="6922008" y="4782312"/>
            <a:ext cx="4526280" cy="365760"/>
          </a:xfrm>
          <a:prstGeom prst="rect">
            <a:avLst/>
          </a:prstGeom>
          <a:noFill/>
          <a:ln/>
        </p:spPr>
        <p:txBody>
          <a:bodyPr wrap="square" lIns="0" tIns="0" rIns="0" bIns="0" rtlCol="0" anchor="t"/>
          <a:lstStyle/>
          <a:p>
            <a:pPr indent="0" marL="0">
              <a:buNone/>
            </a:pPr>
            <a:r>
              <a:rPr lang="en-US" sz="1600" b="1" dirty="0">
                <a:solidFill>
                  <a:schemeClr val="tx1"/>
                </a:solidFill>
              </a:rPr>
              <a:t>8 GB GPU for three models</a:t>
            </a:r>
            <a:endParaRPr lang="en-US" sz="1600" dirty="0"/>
          </a:p>
        </p:txBody>
      </p:sp>
      <p:sp>
        <p:nvSpPr>
          <p:cNvPr id="32" name="Text 30"/>
          <p:cNvSpPr txBox="1"/>
          <p:nvPr/>
        </p:nvSpPr>
        <p:spPr>
          <a:xfrm>
            <a:off x="6922008" y="5184648"/>
            <a:ext cx="4526280" cy="777240"/>
          </a:xfrm>
          <a:prstGeom prst="rect">
            <a:avLst/>
          </a:prstGeom>
          <a:noFill/>
          <a:ln/>
        </p:spPr>
        <p:txBody>
          <a:bodyPr wrap="square" lIns="0" tIns="0" rIns="0" bIns="0" rtlCol="0" anchor="t"/>
          <a:lstStyle/>
          <a:p>
            <a:pPr indent="0" marL="0">
              <a:buNone/>
            </a:pPr>
            <a:r>
              <a:rPr lang="en-US" sz="1400" dirty="0">
                <a:solidFill>
                  <a:schemeClr val="tx1"/>
                </a:solidFill>
              </a:rPr>
              <a:t>One model-loading app at a time; a CPU profile with llama3.2 3B, labelled reduced quality.</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766560" cy="1554480"/>
          </a:xfrm>
          <a:prstGeom prst="rect">
            <a:avLst/>
          </a:prstGeom>
          <a:noFill/>
          <a:ln/>
        </p:spPr>
        <p:txBody>
          <a:bodyPr wrap="square" lIns="0" tIns="0" rIns="0" bIns="0" rtlCol="0" anchor="b"/>
          <a:lstStyle/>
          <a:p>
            <a:pPr algn="l" indent="0" marL="0">
              <a:buNone/>
            </a:pPr>
            <a:r>
              <a:rPr lang="en-US" sz="4800" b="1" dirty="0">
                <a:solidFill>
                  <a:schemeClr val="bg1"/>
                </a:solidFill>
              </a:rPr>
              <a:t>Grounded, local, and honest about its limits</a:t>
            </a:r>
            <a:endParaRPr lang="en-US" sz="4800" dirty="0"/>
          </a:p>
        </p:txBody>
      </p:sp>
      <p:sp>
        <p:nvSpPr>
          <p:cNvPr id="3" name="Text 0"/>
          <p:cNvSpPr/>
          <p:nvPr>
            <p:ph idx="101" type="body" hasCustomPrompt="1"/>
          </p:nvPr>
        </p:nvSpPr>
        <p:spPr>
          <a:xfrm>
            <a:off x="731520" y="3429000"/>
            <a:ext cx="6400800" cy="1097280"/>
          </a:xfrm>
          <a:prstGeom prst="rect">
            <a:avLst/>
          </a:prstGeom>
          <a:noFill/>
          <a:ln/>
        </p:spPr>
        <p:txBody>
          <a:bodyPr wrap="square" lIns="0" tIns="0" rIns="0" bIns="0" rtlCol="0" anchor="t"/>
          <a:lstStyle/>
          <a:p>
            <a:pPr indent="0" marL="0">
              <a:buNone/>
            </a:pPr>
            <a:r>
              <a:rPr lang="en-US" sz="2000" dirty="0">
                <a:solidFill>
                  <a:schemeClr val="bg2"/>
                </a:solidFill>
              </a:rPr>
              <a:t>Every answer cites its three passages by title and page, refuses when the papers are silent, and runs on one laptop GPU with no paid API.</a:t>
            </a:r>
            <a:endParaRPr lang="en-US" sz="2000" dirty="0"/>
          </a:p>
        </p:txBody>
      </p:sp>
      <p:sp>
        <p:nvSpPr>
          <p:cNvPr id="4" name="Text 2"/>
          <p:cNvSpPr txBox="1"/>
          <p:nvPr/>
        </p:nvSpPr>
        <p:spPr>
          <a:xfrm>
            <a:off x="8001000" y="1600200"/>
            <a:ext cx="3566160" cy="457200"/>
          </a:xfrm>
          <a:prstGeom prst="rect">
            <a:avLst/>
          </a:prstGeom>
          <a:noFill/>
          <a:ln/>
        </p:spPr>
        <p:txBody>
          <a:bodyPr wrap="square" lIns="0" tIns="0" rIns="0" bIns="0" rtlCol="0" anchor="t"/>
          <a:lstStyle/>
          <a:p>
            <a:pPr indent="0" marL="0">
              <a:buNone/>
            </a:pPr>
            <a:r>
              <a:rPr lang="en-US" sz="2400" b="1" dirty="0">
                <a:solidFill>
                  <a:schemeClr val="accent6"/>
                </a:solidFill>
                <a:latin typeface="Cambria" pitchFamily="34" charset="0"/>
                <a:ea typeface="Cambria" pitchFamily="34" charset="-122"/>
                <a:cs typeface="Cambria" pitchFamily="34" charset="-120"/>
              </a:rPr>
              <a:t>Next</a:t>
            </a:r>
            <a:endParaRPr lang="en-US" sz="2400" dirty="0"/>
          </a:p>
        </p:txBody>
      </p:sp>
      <p:sp>
        <p:nvSpPr>
          <p:cNvPr id="5" name="next-badge-1"/>
          <p:cNvSpPr/>
          <p:nvPr/>
        </p:nvSpPr>
        <p:spPr>
          <a:xfrm>
            <a:off x="8001000" y="2286000"/>
            <a:ext cx="365760" cy="365760"/>
          </a:xfrm>
          <a:prstGeom prst="ellipse">
            <a:avLst/>
          </a:prstGeom>
          <a:solidFill>
            <a:schemeClr val="accent1"/>
          </a:solidFill>
          <a:ln w="12700">
            <a:solidFill>
              <a:schemeClr val="accent1"/>
            </a:solidFill>
            <a:prstDash val="solid"/>
          </a:ln>
        </p:spPr>
      </p:sp>
      <p:sp>
        <p:nvSpPr>
          <p:cNvPr id="6" name="Text 4"/>
          <p:cNvSpPr txBox="1"/>
          <p:nvPr/>
        </p:nvSpPr>
        <p:spPr>
          <a:xfrm>
            <a:off x="8001000" y="228600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8503920" y="2258568"/>
            <a:ext cx="3154680" cy="640080"/>
          </a:xfrm>
          <a:prstGeom prst="rect">
            <a:avLst/>
          </a:prstGeom>
          <a:noFill/>
          <a:ln/>
        </p:spPr>
        <p:txBody>
          <a:bodyPr wrap="square" lIns="0" tIns="0" rIns="0" bIns="0" rtlCol="0" anchor="t"/>
          <a:lstStyle/>
          <a:p>
            <a:pPr indent="0" marL="0">
              <a:buNone/>
            </a:pPr>
            <a:r>
              <a:rPr lang="en-US" sz="1500" dirty="0">
                <a:solidFill>
                  <a:schemeClr val="bg1"/>
                </a:solidFill>
              </a:rPr>
              <a:t>A larger evaluation set and a second annotator</a:t>
            </a:r>
            <a:endParaRPr lang="en-US" sz="1500" dirty="0"/>
          </a:p>
        </p:txBody>
      </p:sp>
      <p:sp>
        <p:nvSpPr>
          <p:cNvPr id="8" name="next-badge-2"/>
          <p:cNvSpPr/>
          <p:nvPr/>
        </p:nvSpPr>
        <p:spPr>
          <a:xfrm>
            <a:off x="8001000" y="3072384"/>
            <a:ext cx="365760" cy="365760"/>
          </a:xfrm>
          <a:prstGeom prst="ellipse">
            <a:avLst/>
          </a:prstGeom>
          <a:solidFill>
            <a:schemeClr val="accent1"/>
          </a:solidFill>
          <a:ln w="12700">
            <a:solidFill>
              <a:schemeClr val="accent1"/>
            </a:solidFill>
            <a:prstDash val="solid"/>
          </a:ln>
        </p:spPr>
      </p:sp>
      <p:sp>
        <p:nvSpPr>
          <p:cNvPr id="9" name="Text 7"/>
          <p:cNvSpPr txBox="1"/>
          <p:nvPr/>
        </p:nvSpPr>
        <p:spPr>
          <a:xfrm>
            <a:off x="8001000" y="307238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8503920" y="3044952"/>
            <a:ext cx="3154680" cy="640080"/>
          </a:xfrm>
          <a:prstGeom prst="rect">
            <a:avLst/>
          </a:prstGeom>
          <a:noFill/>
          <a:ln/>
        </p:spPr>
        <p:txBody>
          <a:bodyPr wrap="square" lIns="0" tIns="0" rIns="0" bIns="0" rtlCol="0" anchor="t"/>
          <a:lstStyle/>
          <a:p>
            <a:pPr indent="0" marL="0">
              <a:buNone/>
            </a:pPr>
            <a:r>
              <a:rPr lang="en-US" sz="1500" dirty="0">
                <a:solidFill>
                  <a:schemeClr val="bg1"/>
                </a:solidFill>
              </a:rPr>
              <a:t>A sentence-level entailment check against neighbouring-number errors</a:t>
            </a:r>
            <a:endParaRPr lang="en-US" sz="1500" dirty="0"/>
          </a:p>
        </p:txBody>
      </p:sp>
      <p:sp>
        <p:nvSpPr>
          <p:cNvPr id="11" name="next-badge-3"/>
          <p:cNvSpPr/>
          <p:nvPr/>
        </p:nvSpPr>
        <p:spPr>
          <a:xfrm>
            <a:off x="8001000" y="3858768"/>
            <a:ext cx="365760" cy="365760"/>
          </a:xfrm>
          <a:prstGeom prst="ellipse">
            <a:avLst/>
          </a:prstGeom>
          <a:solidFill>
            <a:schemeClr val="accent1"/>
          </a:solidFill>
          <a:ln w="12700">
            <a:solidFill>
              <a:schemeClr val="accent1"/>
            </a:solidFill>
            <a:prstDash val="solid"/>
          </a:ln>
        </p:spPr>
      </p:sp>
      <p:sp>
        <p:nvSpPr>
          <p:cNvPr id="12" name="Text 10"/>
          <p:cNvSpPr txBox="1"/>
          <p:nvPr/>
        </p:nvSpPr>
        <p:spPr>
          <a:xfrm>
            <a:off x="8001000" y="3858768"/>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8503920" y="3831336"/>
            <a:ext cx="3154680" cy="640080"/>
          </a:xfrm>
          <a:prstGeom prst="rect">
            <a:avLst/>
          </a:prstGeom>
          <a:noFill/>
          <a:ln/>
        </p:spPr>
        <p:txBody>
          <a:bodyPr wrap="square" lIns="0" tIns="0" rIns="0" bIns="0" rtlCol="0" anchor="t"/>
          <a:lstStyle/>
          <a:p>
            <a:pPr indent="0" marL="0">
              <a:buNone/>
            </a:pPr>
            <a:r>
              <a:rPr lang="en-US" sz="1500" dirty="0">
                <a:solidFill>
                  <a:schemeClr val="bg1"/>
                </a:solidFill>
              </a:rPr>
              <a:t>Skip the rewrite for questions that are already standalone</a:t>
            </a:r>
            <a:endParaRPr lang="en-US" sz="1500" dirty="0"/>
          </a:p>
        </p:txBody>
      </p:sp>
      <p:sp>
        <p:nvSpPr>
          <p:cNvPr id="14" name="next-badge-4"/>
          <p:cNvSpPr/>
          <p:nvPr/>
        </p:nvSpPr>
        <p:spPr>
          <a:xfrm>
            <a:off x="8001000" y="4645152"/>
            <a:ext cx="365760" cy="365760"/>
          </a:xfrm>
          <a:prstGeom prst="ellipse">
            <a:avLst/>
          </a:prstGeom>
          <a:solidFill>
            <a:schemeClr val="accent1"/>
          </a:solidFill>
          <a:ln w="12700">
            <a:solidFill>
              <a:schemeClr val="accent1"/>
            </a:solidFill>
            <a:prstDash val="solid"/>
          </a:ln>
        </p:spPr>
      </p:sp>
      <p:sp>
        <p:nvSpPr>
          <p:cNvPr id="15" name="Text 13"/>
          <p:cNvSpPr txBox="1"/>
          <p:nvPr/>
        </p:nvSpPr>
        <p:spPr>
          <a:xfrm>
            <a:off x="8001000" y="464515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6" name="Text 14"/>
          <p:cNvSpPr txBox="1"/>
          <p:nvPr/>
        </p:nvSpPr>
        <p:spPr>
          <a:xfrm>
            <a:off x="8503920" y="4617720"/>
            <a:ext cx="3154680" cy="640080"/>
          </a:xfrm>
          <a:prstGeom prst="rect">
            <a:avLst/>
          </a:prstGeom>
          <a:noFill/>
          <a:ln/>
        </p:spPr>
        <p:txBody>
          <a:bodyPr wrap="square" lIns="0" tIns="0" rIns="0" bIns="0" rtlCol="0" anchor="t"/>
          <a:lstStyle/>
          <a:p>
            <a:pPr indent="0" marL="0">
              <a:buNone/>
            </a:pPr>
            <a:r>
              <a:rPr lang="en-US" sz="1500" dirty="0">
                <a:solidFill>
                  <a:schemeClr val="bg1"/>
                </a:solidFill>
              </a:rPr>
              <a:t>Layout-aware parsing for tables and equations</a:t>
            </a:r>
            <a:endParaRPr lang="en-US" sz="1500" dirty="0"/>
          </a:p>
        </p:txBody>
      </p:sp>
      <p:sp>
        <p:nvSpPr>
          <p:cNvPr id="17" name="next-badge-5"/>
          <p:cNvSpPr/>
          <p:nvPr/>
        </p:nvSpPr>
        <p:spPr>
          <a:xfrm>
            <a:off x="8001000" y="5431536"/>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8001000" y="543153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9" name="Text 17"/>
          <p:cNvSpPr txBox="1"/>
          <p:nvPr/>
        </p:nvSpPr>
        <p:spPr>
          <a:xfrm>
            <a:off x="8503920" y="5404104"/>
            <a:ext cx="3154680" cy="640080"/>
          </a:xfrm>
          <a:prstGeom prst="rect">
            <a:avLst/>
          </a:prstGeom>
          <a:noFill/>
          <a:ln/>
        </p:spPr>
        <p:txBody>
          <a:bodyPr wrap="square" lIns="0" tIns="0" rIns="0" bIns="0" rtlCol="0" anchor="t"/>
          <a:lstStyle/>
          <a:p>
            <a:pPr indent="0" marL="0">
              <a:buNone/>
            </a:pPr>
            <a:r>
              <a:rPr lang="en-US" sz="1500" dirty="0">
                <a:solidFill>
                  <a:schemeClr val="bg1"/>
                </a:solidFill>
              </a:rPr>
              <a:t>A larger local model when the hardware allows</a:t>
            </a:r>
            <a:endParaRPr lang="en-US" sz="1500" dirty="0"/>
          </a:p>
        </p:txBody>
      </p:sp>
      <p:sp>
        <p:nvSpPr>
          <p:cNvPr id="20" name="Text 18"/>
          <p:cNvSpPr txBox="1"/>
          <p:nvPr/>
        </p:nvSpPr>
        <p:spPr>
          <a:xfrm>
            <a:off x="731520" y="5897880"/>
            <a:ext cx="6858000" cy="365760"/>
          </a:xfrm>
          <a:prstGeom prst="rect">
            <a:avLst/>
          </a:prstGeom>
          <a:noFill/>
          <a:ln/>
        </p:spPr>
        <p:txBody>
          <a:bodyPr wrap="square" lIns="0" tIns="0" rIns="0" bIns="0" rtlCol="0" anchor="t"/>
          <a:lstStyle/>
          <a:p>
            <a:pPr indent="0" marL="0">
              <a:buNone/>
            </a:pPr>
            <a:r>
              <a:rPr lang="en-US" sz="1400" dirty="0">
                <a:solidFill>
                  <a:schemeClr val="bg2"/>
                </a:solidFill>
              </a:rPr>
              <a:t>Code, notebook and README: Research-Paper-Answer-Bot repository</a:t>
            </a:r>
            <a:endParaRPr lang="en-US" sz="1400" dirty="0"/>
          </a:p>
        </p:txBody>
      </p:sp>
    </p:spTree>
  </p:cSld>
  <p:clrMapOvr>
    <a:masterClrMapping/>
  </p:clrMapOvr>
</p:sld>
</file>

<file path=ppt/theme/theme1.xml><?xml version="1.0" encoding="utf-8"?>
<a:theme xmlns:a="http://schemas.openxmlformats.org/drawingml/2006/main" name="Answer Bot">
  <a:themeElements>
    <a:clrScheme name="Answer Bot">
      <a:dk1>
        <a:srgbClr val="1A1D24"/>
      </a:dk1>
      <a:lt1>
        <a:srgbClr val="FFFFFF"/>
      </a:lt1>
      <a:dk2>
        <a:srgbClr val="2F3C9E"/>
      </a:dk2>
      <a:lt2>
        <a:srgbClr val="ECEEF1"/>
      </a:lt2>
      <a:accent1>
        <a:srgbClr val="2F3C9E"/>
      </a:accent1>
      <a:accent2>
        <a:srgbClr val="B86E12"/>
      </a:accent2>
      <a:accent3>
        <a:srgbClr val="1C6E54"/>
      </a:accent3>
      <a:accent4>
        <a:srgbClr val="5B6272"/>
      </a:accent4>
      <a:accent5>
        <a:srgbClr val="C9CEDA"/>
      </a:accent5>
      <a:accent6>
        <a:srgbClr val="FBE38A"/>
      </a:accent6>
      <a:hlink>
        <a:srgbClr val="2F3C9E"/>
      </a:hlink>
      <a:folHlink>
        <a:srgbClr val="4A505C"/>
      </a:folHlink>
    </a:clrScheme>
    <a:fontScheme name="Answer B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Paper Answer Bot</dc:title>
  <dc:subject>PptxGenJS Presentation</dc:subject>
  <dc:creator>PptxGenJS</dc:creator>
  <cp:lastModifiedBy>PptxGenJS</cp:lastModifiedBy>
  <cp:revision>1</cp:revision>
  <dcterms:created xsi:type="dcterms:W3CDTF">2026-10-24T18:55:56Z</dcterms:created>
  <dcterms:modified xsi:type="dcterms:W3CDTF">2026-10-24T18:55:56Z</dcterms:modified>
</cp:coreProperties>
</file>